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3"/>
  </p:sldMasterIdLst>
  <p:notesMasterIdLst>
    <p:notesMasterId r:id="rId5"/>
  </p:notesMasterIdLst>
  <p:handoutMasterIdLst>
    <p:handoutMasterId r:id="rId55"/>
  </p:handoutMasterIdLst>
  <p:sldIdLst>
    <p:sldId id="330" r:id="rId4"/>
    <p:sldId id="408" r:id="rId6"/>
    <p:sldId id="414" r:id="rId7"/>
    <p:sldId id="415" r:id="rId8"/>
    <p:sldId id="416" r:id="rId9"/>
    <p:sldId id="417" r:id="rId10"/>
    <p:sldId id="418" r:id="rId11"/>
    <p:sldId id="419" r:id="rId12"/>
    <p:sldId id="420" r:id="rId13"/>
    <p:sldId id="421" r:id="rId14"/>
    <p:sldId id="422" r:id="rId15"/>
    <p:sldId id="423" r:id="rId16"/>
    <p:sldId id="424" r:id="rId17"/>
    <p:sldId id="425" r:id="rId18"/>
    <p:sldId id="426" r:id="rId19"/>
    <p:sldId id="427" r:id="rId20"/>
    <p:sldId id="434" r:id="rId21"/>
    <p:sldId id="428" r:id="rId22"/>
    <p:sldId id="429" r:id="rId23"/>
    <p:sldId id="430" r:id="rId24"/>
    <p:sldId id="431" r:id="rId25"/>
    <p:sldId id="432" r:id="rId26"/>
    <p:sldId id="433" r:id="rId27"/>
    <p:sldId id="410" r:id="rId28"/>
    <p:sldId id="413" r:id="rId29"/>
    <p:sldId id="435" r:id="rId30"/>
    <p:sldId id="436" r:id="rId31"/>
    <p:sldId id="437" r:id="rId32"/>
    <p:sldId id="438" r:id="rId33"/>
    <p:sldId id="439" r:id="rId34"/>
    <p:sldId id="440" r:id="rId35"/>
    <p:sldId id="441" r:id="rId36"/>
    <p:sldId id="442" r:id="rId37"/>
    <p:sldId id="443" r:id="rId38"/>
    <p:sldId id="444" r:id="rId39"/>
    <p:sldId id="445" r:id="rId40"/>
    <p:sldId id="446" r:id="rId41"/>
    <p:sldId id="447" r:id="rId42"/>
    <p:sldId id="448" r:id="rId43"/>
    <p:sldId id="449" r:id="rId44"/>
    <p:sldId id="450" r:id="rId45"/>
    <p:sldId id="451" r:id="rId46"/>
    <p:sldId id="452" r:id="rId47"/>
    <p:sldId id="453" r:id="rId48"/>
    <p:sldId id="454" r:id="rId49"/>
    <p:sldId id="455" r:id="rId50"/>
    <p:sldId id="456" r:id="rId51"/>
    <p:sldId id="457" r:id="rId52"/>
    <p:sldId id="458" r:id="rId53"/>
    <p:sldId id="298" r:id="rId54"/>
  </p:sldIdLst>
  <p:sldSz cx="9144000" cy="6858000" type="screen4x3"/>
  <p:notesSz cx="6858000" cy="9144000"/>
  <p:embeddedFontLst>
    <p:embeddedFont>
      <p:font typeface="Noto Sans Symbols" panose="020B0604020202020204"/>
      <p:regular r:id="rId60"/>
    </p:embeddedFont>
    <p:embeddedFont>
      <p:font typeface="Verdana" panose="020B0604030504040204" pitchFamily="34" charset="0"/>
      <p:regular r:id="rId61"/>
      <p:bold r:id="rId62"/>
      <p:italic r:id="rId63"/>
      <p:boldItalic r:id="rId64"/>
    </p:embeddedFont>
    <p:embeddedFont>
      <p:font typeface="Verdana" panose="020B0604030504040204"/>
      <p:regular r:id="rId65"/>
      <p:bold r:id="rId66"/>
      <p:italic r:id="rId67"/>
      <p:boldItalic r:id="rId68"/>
    </p:embeddedFont>
    <p:embeddedFont>
      <p:font typeface="Calibri" panose="020F0502020204030204" pitchFamily="3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guide id="8" pos="9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56950" autoAdjust="0"/>
  </p:normalViewPr>
  <p:slideViewPr>
    <p:cSldViewPr snapToGrid="0" snapToObjects="1" showGuides="1">
      <p:cViewPr varScale="1">
        <p:scale>
          <a:sx n="38" d="100"/>
          <a:sy n="38" d="100"/>
        </p:scale>
        <p:origin x="1896" y="36"/>
      </p:cViewPr>
      <p:guideLst>
        <p:guide orient="horz" pos="3997"/>
        <p:guide pos="295"/>
        <p:guide orient="horz" pos="4178"/>
        <p:guide orient="horz" pos="119"/>
        <p:guide orient="horz" pos="822"/>
        <p:guide orient="horz" pos="981"/>
        <p:guide pos="635"/>
        <p:guide pos="930"/>
      </p:guideLst>
    </p:cSldViewPr>
  </p:slideViewPr>
  <p:outlineViewPr>
    <p:cViewPr>
      <p:scale>
        <a:sx n="33" d="100"/>
        <a:sy n="33" d="100"/>
      </p:scale>
      <p:origin x="0" y="-2394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51" d="100"/>
          <a:sy n="51" d="100"/>
        </p:scale>
        <p:origin x="2692" y="2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2" Type="http://schemas.openxmlformats.org/officeDocument/2006/relationships/font" Target="fonts/font13.fntdata"/><Relationship Id="rId71" Type="http://schemas.openxmlformats.org/officeDocument/2006/relationships/font" Target="fonts/font12.fntdata"/><Relationship Id="rId70" Type="http://schemas.openxmlformats.org/officeDocument/2006/relationships/font" Target="fonts/font11.fntdata"/><Relationship Id="rId7" Type="http://schemas.openxmlformats.org/officeDocument/2006/relationships/slide" Target="slides/slide3.xml"/><Relationship Id="rId69" Type="http://schemas.openxmlformats.org/officeDocument/2006/relationships/font" Target="fonts/font10.fntdata"/><Relationship Id="rId68" Type="http://schemas.openxmlformats.org/officeDocument/2006/relationships/font" Target="fonts/font9.fntdata"/><Relationship Id="rId67" Type="http://schemas.openxmlformats.org/officeDocument/2006/relationships/font" Target="fonts/font8.fntdata"/><Relationship Id="rId66" Type="http://schemas.openxmlformats.org/officeDocument/2006/relationships/font" Target="fonts/font7.fntdata"/><Relationship Id="rId65" Type="http://schemas.openxmlformats.org/officeDocument/2006/relationships/font" Target="fonts/font6.fntdata"/><Relationship Id="rId64" Type="http://schemas.openxmlformats.org/officeDocument/2006/relationships/font" Target="fonts/font5.fntdata"/><Relationship Id="rId63" Type="http://schemas.openxmlformats.org/officeDocument/2006/relationships/font" Target="fonts/font4.fntdata"/><Relationship Id="rId62" Type="http://schemas.openxmlformats.org/officeDocument/2006/relationships/font" Target="fonts/font3.fntdata"/><Relationship Id="rId61" Type="http://schemas.openxmlformats.org/officeDocument/2006/relationships/font" Target="fonts/font2.fntdata"/><Relationship Id="rId60" Type="http://schemas.openxmlformats.org/officeDocument/2006/relationships/font" Target="fonts/font1.fntdata"/><Relationship Id="rId6" Type="http://schemas.openxmlformats.org/officeDocument/2006/relationships/slide" Target="slides/slide2.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rPr>
              <a:t>If this PowerPoint presentation contains mathematical equations, you may need to check that your computer has the following installed:</a:t>
            </a:r>
            <a:endPar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endParaRPr>
          </a:p>
          <a:p>
            <a:r>
              <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rPr>
              <a:t>1) MathType Plugin</a:t>
            </a:r>
            <a:endPar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endParaRPr>
          </a:p>
          <a:p>
            <a:r>
              <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rPr>
              <a:t>2) Math Player (free versions available)</a:t>
            </a:r>
            <a:endPar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endParaRPr>
          </a:p>
          <a:p>
            <a:r>
              <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rPr>
              <a:t>3) NVDA Reader (free versions available)</a:t>
            </a:r>
            <a:endParaRPr lang="en-US" sz="1200" b="0" i="0" u="none" strike="noStrike" kern="1200" cap="none" dirty="0">
              <a:solidFill>
                <a:schemeClr val="dk1"/>
              </a:solidFill>
              <a:latin typeface="Arial" panose="020B0604020202020204"/>
              <a:ea typeface="Arial" panose="020B0604020202020204"/>
              <a:cs typeface="Arial" panose="020B0604020202020204"/>
              <a:sym typeface="Arial" panose="020B0604020202020204"/>
            </a:endParaRPr>
          </a:p>
          <a:p>
            <a:endParaRPr lang="en-US" sz="1200" b="0" i="0" u="none" strike="noStrike" kern="1200" cap="none" dirty="0">
              <a:solidFill>
                <a:schemeClr val="dk1"/>
              </a:solidFill>
              <a:latin typeface="Arial" panose="020B0604020202020204"/>
              <a:cs typeface="Arial" panose="020B0604020202020204"/>
              <a:sym typeface="Arial" panose="020B0604020202020204"/>
            </a:endParaRPr>
          </a:p>
          <a:p>
            <a:r>
              <a:rPr lang="en-US" dirty="0"/>
              <a:t>Slides in this presentation contain hyperlinks. JAWS users should be able to get a list of links by using INSERT+F7</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3.3, Page 119.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In packet switching, digital messages are divided into fixed-length packets of bits (generally about 1,500 bytes). Header information indicates both the origin and the ultimate destination address of the packet, the size of the message, and the number of packets the receiving node should expect. Because the receipt of each packet is acknowledged by the receiving computer, for a considerable amount of time, the network is not passing information, only acknowledgments, producing a delay called latency.</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An illustration explains how packet switching works, as follows: The original text message reads, I want to communicate with you. The text message is digitized into bits, or a series of 1’s and 0’s. Digital bits are broken into packets of 7 or 8 1’s and 0’s. Header information is added to each packet indicating destination and other control information, such as how many bits are in the total message and how many packets.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3.4, Page 121.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TCP/IP is an industry-standard suite of protocols for large internetworks. The purpose of TCP/IP is to provide high-speed communication network links.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a:t>
            </a:r>
            <a:r>
              <a:rPr lang="en-US" sz="1200" b="0" i="0" u="none" strike="noStrike" kern="1200" cap="none" baseline="0" dirty="0">
                <a:solidFill>
                  <a:prstClr val="black"/>
                </a:solidFill>
                <a:latin typeface="Arial" panose="020B0604020202020204"/>
                <a:ea typeface="Arial" panose="020B0604020202020204"/>
                <a:cs typeface="Arial" panose="020B0604020202020204"/>
                <a:sym typeface="Arial" panose="020B0604020202020204"/>
              </a:rPr>
              <a:t>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An illustration depicts the T C P and  IP protocol architecture layers and the related elements of the T C P and I P protocol suite., as follows: From the bottom up, Network Interface layer: Ethernet, token ring, frame relay, and A T M; Internet Layer: I P; Host to host transport layer, T C P;  Application layer: H T </a:t>
            </a:r>
            <a:r>
              <a:rPr lang="en-US" sz="1200" b="0" i="0" u="none" strike="noStrike" kern="1200" cap="none" dirty="0" err="1">
                <a:solidFill>
                  <a:schemeClr val="dk1"/>
                </a:solidFill>
                <a:effectLst/>
                <a:latin typeface="Arial" panose="020B0604020202020204"/>
                <a:ea typeface="Calibri" panose="020F0502020204030204" pitchFamily="34" charset="0"/>
                <a:cs typeface="Arial" panose="020B0604020202020204"/>
                <a:sym typeface="Arial" panose="020B0604020202020204"/>
              </a:rPr>
              <a:t>T</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 P, Telnet, F T P, S M T P, and B G P. </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3.5, Page 122.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The Internet uses packet-switched networks and the TCP/IP communications protocol to send, route, and assemble messages. Messages are broken into packets, and packets from the same message can travel along different routes.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An illustration explains how T C P, I P, and packet switching are used to route internet messages, as follows: A message is sent from the sender. Step 1, T C P,  I P breaks the data into packets. Step 2, the packets travel from router to router over the Internet. Step 3, T C P, I P reassembles the packets into the original whole. The message arrives at the receiver.</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3.10 Page 132.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The Internet can be characterized as an hourglass modular structure with a lower layer containing the bit-carrying infrastructure (including cables and switches) and an upper layer containing user applications such as e-mail and the Web. In the narrow waist are transportation protocols such as TCP/IP.</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 diagram illustrates the hourglass model of the internet, as follows: The hourglass model depicts the internet as being divided into 4 layers, in an hourglass shape, from bottom to top, as follows. Layer 1 at the wide bottom of the hourglass: Network technology substrates including coaxial cable, LANs, wireless, satellite, fiber optic, and D S L. Layer 2, at the narrowest part of the hourglass: Transport services and representation standards including I P v 6, I P v 4, and T C P. Layer 3 at the widening middle of the hourglass: middleware services including storage repositories, security, authentication and identity management, and file systems. Layer 4, at the top and widest part of the hourglass: applications including web browsers, email clients, media players, image servers, and remote login.</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defRPr/>
            </a:pPr>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3.11, Page 133.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Today’s Internet has a multi-tiered open network architecture featuring multiple backbones, regional hubs, campus/corporate area networks, and local client computers.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An illustration depicts internet network architecture, as follows: The backbone exchanges information with the regional hubs, I X P’s. The I X P’s exchange information with regional hosts. Regional hosts are connected to domain local I S P’s and domains like N Y U dot </a:t>
            </a:r>
            <a:r>
              <a:rPr lang="en-US" sz="1200" b="0" i="0" u="none" strike="noStrike" kern="1200" cap="none" dirty="0" err="1">
                <a:solidFill>
                  <a:schemeClr val="dk1"/>
                </a:solidFill>
                <a:effectLst/>
                <a:latin typeface="Arial" panose="020B0604020202020204"/>
                <a:ea typeface="Calibri" panose="020F0502020204030204" pitchFamily="34" charset="0"/>
                <a:cs typeface="Arial" panose="020B0604020202020204"/>
                <a:sym typeface="Arial" panose="020B0604020202020204"/>
              </a:rPr>
              <a:t>edu</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 The Domain Local I S P’s are connected via D S L, FIOS or cable to the home computer at the client I P address. The domain N Y U dot e d u is connected via T1 line to a CAN or offices at the client I P address.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14400"/>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3.13, page 141. </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In a Wi-Fi network, wireless access points connect to the Internet using a land-based broadband connection. Clients, which could be desktops, laptops, tablet computers, or smartphones, connect to the access point using radio signals.</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An illustration depicts WI FI networks, as follows: A wireless access point is connected to the internet by a broadband connection. The access point provides internet access to devices such as a laptop and desktop computer and a smartphone or tablet computer.</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Note: Example URL is not an actual URL.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180562"/>
            <a:ext cx="5677422" cy="5101224"/>
          </a:xfrm>
        </p:spPr>
        <p:txBody>
          <a:bodyPr/>
          <a:lstStyle/>
          <a:p>
            <a:pPr lvl="0" defTabSz="914400"/>
            <a:r>
              <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rPr>
              <a:t>Figure 3.17, page 167.</a:t>
            </a:r>
            <a:endParaRPr lang="en-US" sz="1200" b="0" i="1"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rPr>
              <a:t>Alt Text</a:t>
            </a:r>
            <a:endParaRPr lang="en-US" sz="1200" b="0" i="0" u="sng" strike="noStrike" kern="1200" cap="none" dirty="0">
              <a:solidFill>
                <a:prstClr val="black"/>
              </a:solidFill>
              <a:latin typeface="Arial" panose="020B0604020202020204"/>
              <a:ea typeface="Arial" panose="020B0604020202020204"/>
              <a:cs typeface="Arial" panose="020B0604020202020204"/>
              <a:sym typeface="Arial" panose="020B0604020202020204"/>
            </a:endParaRPr>
          </a:p>
          <a:p>
            <a:pPr lvl="0" defTabSz="914400"/>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Long description:  </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A flow chart depicts how Google works, as follows: A, Indexing the web. Step 1, a Googlebot, which is a form of software code, crawls the web, going from link to link. Step 2, crawled pages are analyzed: links semantic analysis and JavaScript or C S </a:t>
            </a:r>
            <a:r>
              <a:rPr lang="en-US" sz="1200" b="0" i="0" u="none" strike="noStrike" kern="1200" cap="none" dirty="0" err="1">
                <a:solidFill>
                  <a:schemeClr val="dk1"/>
                </a:solidFill>
                <a:effectLst/>
                <a:latin typeface="Arial" panose="020B0604020202020204"/>
                <a:ea typeface="Calibri" panose="020F0502020204030204" pitchFamily="34" charset="0"/>
                <a:cs typeface="Arial" panose="020B0604020202020204"/>
                <a:sym typeface="Arial" panose="020B0604020202020204"/>
              </a:rPr>
              <a:t>S</a:t>
            </a:r>
            <a:r>
              <a:rPr lang="en-US" sz="1200" b="0" i="0" u="none" strike="noStrike" kern="1200" cap="none" dirty="0">
                <a:solidFill>
                  <a:schemeClr val="dk1"/>
                </a:solidFill>
                <a:effectLst/>
                <a:latin typeface="Arial" panose="020B0604020202020204"/>
                <a:ea typeface="Calibri" panose="020F0502020204030204" pitchFamily="34" charset="0"/>
                <a:cs typeface="Arial" panose="020B0604020202020204"/>
                <a:sym typeface="Arial" panose="020B0604020202020204"/>
              </a:rPr>
              <a:t> content. Step 3, new data is added to an index of keywords and the pages on which they appear. Step 4, to deal with the scale of the Web, Google has already indexed an estimated 30 trillion pages, Google breaks it up into thousands of index shards, groups of millions of pages. Step 5, the index shards are stored on Google servers, approximately 1 million, located in data centers around the world. Step 6, the indexing process runs continuously, processing billions of web pages a day. Pages with frequently updated content and links from other highly ranked sites are crawled more regularly and deeply and given higher rank themselves. B, Processing a Search Query. Step 1, a user enters a search query on a desktop computer or mobile device. Google will make suggestions as the user types. Step 2, the search request is sent to one of Google’s many servers. Step 3, the server uses an algorithm to access the index database, find matching pages, and compute a score, representing how good a match the page is for the query. The algorithm has 200 plus variables, including page rank, the quality and relevance of the content on the page to the query, the context of the search such as the user’s location and device being used, and the user’s previous search history. Google also applies various penalties and filters to prevent attempts to game the algorithm. Step 4, short text summaries or snippets are generated for each result. Step 5, results are delivered to the user, 10 to a page</a:t>
            </a:r>
            <a:r>
              <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rPr>
              <a:t>.</a:t>
            </a:r>
            <a:endParaRPr lang="en-US" sz="1200" b="0" i="0" u="none" strike="noStrike" kern="1200" cap="none" dirty="0">
              <a:solidFill>
                <a:prstClr val="black"/>
              </a:solidFill>
              <a:latin typeface="Arial" panose="020B0604020202020204"/>
              <a:ea typeface="Arial" panose="020B0604020202020204"/>
              <a:cs typeface="Arial" panose="020B0604020202020204"/>
              <a:sym typeface="Arial" panose="020B0604020202020204"/>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panose="020B0604020202020204"/>
                <a:ea typeface="Arial" panose="020B0604020202020204"/>
                <a:cs typeface="Arial" panose="020B0604020202020204"/>
                <a:sym typeface="Arial" panose="020B0604020202020204"/>
              </a:rPr>
            </a:fld>
            <a:endParaRPr lang="en-US" sz="12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panose="020B0604020202020204"/>
              <a:buNone/>
            </a:pPr>
            <a:fld id="{00000000-1234-1234-1234-123412341234}" type="slidenum">
              <a:rPr lang="en-US"/>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panose="020B0604020202020204"/>
              <a:buNone/>
              <a:defRPr sz="2000" b="0" i="0" u="none" strike="noStrike" cap="none">
                <a:solidFill>
                  <a:srgbClr val="007FA3"/>
                </a:solidFill>
                <a:latin typeface="+mn-lt"/>
                <a:ea typeface="Arial" panose="020B0604020202020204"/>
                <a:cs typeface="Arial" panose="020B0604020202020204"/>
                <a:sym typeface="Arial" panose="020B0604020202020204"/>
              </a:defRPr>
            </a:lvl1pPr>
            <a:lvl2pPr marL="0" marR="0" lvl="1"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0" marR="0" lvl="2" indent="0" algn="l" rtl="0">
              <a:spcBef>
                <a:spcPts val="0"/>
              </a:spcBef>
              <a:buClr>
                <a:srgbClr val="007FA3"/>
              </a:buClr>
              <a:buFont typeface="Noto Sans Symbols"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0" marR="0" lvl="3"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0" marR="0" lvl="4"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0" marR="0" lvl="5"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0" marR="0" lvl="6"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0" marR="0" lvl="7"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0" marR="0" lvl="8" indent="0" algn="l" rtl="0">
              <a:spcBef>
                <a:spcPts val="0"/>
              </a:spcBef>
              <a:buClr>
                <a:srgbClr val="007FA3"/>
              </a:buClr>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4" name="Content Placeholder 3"/>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endParaRPr lang="en-US" dirty="0"/>
          </a:p>
        </p:txBody>
      </p:sp>
      <p:sp>
        <p:nvSpPr>
          <p:cNvPr id="6" name="Content Placeholder 5"/>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endParaRPr lang="en-US" dirty="0"/>
          </a:p>
        </p:txBody>
      </p:sp>
      <p:sp>
        <p:nvSpPr>
          <p:cNvPr id="8" name="Content Placeholder 7"/>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endParaRPr lang="en-US" dirty="0"/>
          </a:p>
        </p:txBody>
      </p:sp>
      <p:sp>
        <p:nvSpPr>
          <p:cNvPr id="12"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defRPr/>
            </a:pPr>
            <a:endParaRPr lang="en-US" dirty="0">
              <a:solidFill>
                <a:schemeClr val="tx1"/>
              </a:solidFill>
            </a:endParaRPr>
          </a:p>
        </p:txBody>
      </p:sp>
      <p:sp>
        <p:nvSpPr>
          <p:cNvPr id="13"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fld>
            <a:endParaRPr lang="en-US" sz="900" dirty="0"/>
          </a:p>
        </p:txBody>
      </p:sp>
      <p:sp>
        <p:nvSpPr>
          <p:cNvPr id="9" name="Picture Placeholder 8"/>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endParaRPr lang="en-US" dirty="0"/>
          </a:p>
        </p:txBody>
      </p:sp>
      <p:sp>
        <p:nvSpPr>
          <p:cNvPr id="18" name="Content Placeholder 17"/>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panose="02020603050405020304"/>
              <a:buNone/>
              <a:defRPr sz="3600" b="1" i="0" u="none" strike="noStrike" cap="none">
                <a:solidFill>
                  <a:schemeClr val="lt1"/>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panose="020B0604020202020204"/>
              <a:buNone/>
              <a:defRPr sz="2400" b="0" i="0" u="none" strike="noStrike" cap="none">
                <a:solidFill>
                  <a:schemeClr val="dk1"/>
                </a:solidFill>
                <a:latin typeface="+mn-lt"/>
                <a:ea typeface="Arial" panose="020B0604020202020204"/>
                <a:cs typeface="Arial" panose="020B0604020202020204"/>
                <a:sym typeface="Arial" panose="020B0604020202020204"/>
              </a:defRPr>
            </a:lvl1pPr>
            <a:lvl2pPr marL="457200" marR="0" lvl="1" indent="0" algn="ctr" rtl="0">
              <a:spcBef>
                <a:spcPts val="6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914400" marR="0" lvl="2" indent="0" algn="ctr" rtl="0">
              <a:spcBef>
                <a:spcPts val="600"/>
              </a:spcBef>
              <a:buClr>
                <a:srgbClr val="007FA3"/>
              </a:buClr>
              <a:buFont typeface="Noto Sans Symbols"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1371600" marR="0" lvl="3" indent="0" algn="ctr" rtl="0">
              <a:spcBef>
                <a:spcPts val="6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1828800" marR="0" lvl="4" indent="0" algn="ctr" rtl="0">
              <a:spcBef>
                <a:spcPts val="6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2286000" marR="0" lvl="5" indent="0" algn="ctr" rtl="0">
              <a:spcBef>
                <a:spcPts val="3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2743200" marR="0" lvl="6" indent="0" algn="ctr" rtl="0">
              <a:spcBef>
                <a:spcPts val="3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3200400" marR="0" lvl="7" indent="0" algn="ctr" rtl="0">
              <a:spcBef>
                <a:spcPts val="3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3657600" marR="0" lvl="8" indent="0" algn="ctr" rtl="0">
              <a:spcBef>
                <a:spcPts val="300"/>
              </a:spcBef>
              <a:buClr>
                <a:srgbClr val="007FA3"/>
              </a:buClr>
              <a:buFont typeface="Arial"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sz="9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defRPr/>
            </a:pPr>
            <a:fld id="{00000000-1234-1234-1234-123412341234}" type="slidenum">
              <a:rPr kumimoji="0" lang="en-US" sz="9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rPr>
            </a:fld>
            <a:endParaRPr kumimoji="0" lang="en-US" sz="9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p:cNvSpPr>
            <a:spLocks noGrp="1"/>
          </p:cNvSpPr>
          <p:nvPr>
            <p:ph sz="quarter" idx="13"/>
          </p:nvPr>
        </p:nvSpPr>
        <p:spPr>
          <a:xfrm>
            <a:off x="457200" y="1554920"/>
            <a:ext cx="8232775" cy="4663335"/>
          </a:xfrm>
        </p:spPr>
        <p:txBody>
          <a:bodyPr/>
          <a:lstStyle>
            <a:lvl1pPr indent="-255905">
              <a:defRPr sz="2400">
                <a:latin typeface="+mn-lt"/>
              </a:defRPr>
            </a:lvl1pPr>
            <a:lvl2pPr indent="-284480">
              <a:defRPr sz="2400">
                <a:latin typeface="+mn-lt"/>
              </a:defRPr>
            </a:lvl2pPr>
            <a:lvl3pPr indent="-230505">
              <a:buFont typeface="Wingdings" panose="05000000000000000000" pitchFamily="2" charset="2"/>
              <a:buChar char="§"/>
              <a:defRPr sz="2400">
                <a:latin typeface="+mn-lt"/>
              </a:defRPr>
            </a:lvl3pPr>
            <a:lvl4pPr indent="-230505">
              <a:defRPr sz="2400">
                <a:latin typeface="+mn-lt"/>
              </a:defRPr>
            </a:lvl4pPr>
            <a:lvl5pPr indent="-230505">
              <a:defRPr sz="2400">
                <a:latin typeface="+mn-lt"/>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p:cNvSpPr>
            <a:spLocks noGrp="1"/>
          </p:cNvSpPr>
          <p:nvPr>
            <p:ph sz="quarter" idx="13"/>
          </p:nvPr>
        </p:nvSpPr>
        <p:spPr>
          <a:xfrm>
            <a:off x="457200" y="1556327"/>
            <a:ext cx="8229600" cy="226752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6"/>
          <p:cNvSpPr>
            <a:spLocks noGrp="1"/>
          </p:cNvSpPr>
          <p:nvPr>
            <p:ph sz="quarter" idx="14"/>
          </p:nvPr>
        </p:nvSpPr>
        <p:spPr>
          <a:xfrm>
            <a:off x="457200" y="3971925"/>
            <a:ext cx="8229600" cy="2105025"/>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p:cNvSpPr>
            <a:spLocks noGrp="1"/>
          </p:cNvSpPr>
          <p:nvPr>
            <p:ph sz="quarter" idx="15"/>
          </p:nvPr>
        </p:nvSpPr>
        <p:spPr>
          <a:xfrm>
            <a:off x="457200" y="1556327"/>
            <a:ext cx="3635375" cy="4520623"/>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quarter" idx="13"/>
          </p:nvPr>
        </p:nvSpPr>
        <p:spPr>
          <a:xfrm>
            <a:off x="4234542" y="1556327"/>
            <a:ext cx="4452257" cy="226752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6"/>
          <p:cNvSpPr>
            <a:spLocks noGrp="1"/>
          </p:cNvSpPr>
          <p:nvPr>
            <p:ph sz="quarter" idx="14"/>
          </p:nvPr>
        </p:nvSpPr>
        <p:spPr>
          <a:xfrm>
            <a:off x="4234542" y="3971925"/>
            <a:ext cx="4452258" cy="2105025"/>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p:cNvSpPr>
            <a:spLocks noGrp="1"/>
          </p:cNvSpPr>
          <p:nvPr>
            <p:ph sz="quarter" idx="13"/>
          </p:nvPr>
        </p:nvSpPr>
        <p:spPr>
          <a:xfrm>
            <a:off x="457200" y="1552575"/>
            <a:ext cx="399197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6" name="Content Placeholder 7"/>
          <p:cNvSpPr>
            <a:spLocks noGrp="1"/>
          </p:cNvSpPr>
          <p:nvPr>
            <p:ph sz="quarter" idx="14"/>
          </p:nvPr>
        </p:nvSpPr>
        <p:spPr>
          <a:xfrm>
            <a:off x="4694830" y="1552575"/>
            <a:ext cx="399197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p:cNvSpPr>
            <a:spLocks noGrp="1"/>
          </p:cNvSpPr>
          <p:nvPr>
            <p:ph sz="quarter" idx="14"/>
          </p:nvPr>
        </p:nvSpPr>
        <p:spPr>
          <a:xfrm>
            <a:off x="457201" y="1552575"/>
            <a:ext cx="2595603"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Content Placeholder 7"/>
          <p:cNvSpPr>
            <a:spLocks noGrp="1"/>
          </p:cNvSpPr>
          <p:nvPr>
            <p:ph sz="quarter" idx="13"/>
          </p:nvPr>
        </p:nvSpPr>
        <p:spPr>
          <a:xfrm>
            <a:off x="3274199" y="1552575"/>
            <a:ext cx="2595602"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7" name="Content Placeholder 7"/>
          <p:cNvSpPr>
            <a:spLocks noGrp="1"/>
          </p:cNvSpPr>
          <p:nvPr>
            <p:ph sz="quarter" idx="15"/>
          </p:nvPr>
        </p:nvSpPr>
        <p:spPr>
          <a:xfrm>
            <a:off x="6091197" y="1552575"/>
            <a:ext cx="2595603"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p:cNvSpPr>
            <a:spLocks noGrp="1"/>
          </p:cNvSpPr>
          <p:nvPr>
            <p:ph sz="quarter" idx="13"/>
          </p:nvPr>
        </p:nvSpPr>
        <p:spPr>
          <a:xfrm>
            <a:off x="457200" y="1552575"/>
            <a:ext cx="188595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6" name="Content Placeholder 7"/>
          <p:cNvSpPr>
            <a:spLocks noGrp="1"/>
          </p:cNvSpPr>
          <p:nvPr>
            <p:ph sz="quarter" idx="14"/>
          </p:nvPr>
        </p:nvSpPr>
        <p:spPr>
          <a:xfrm>
            <a:off x="2572593" y="1552575"/>
            <a:ext cx="188595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7" name="Content Placeholder 7"/>
          <p:cNvSpPr>
            <a:spLocks noGrp="1"/>
          </p:cNvSpPr>
          <p:nvPr>
            <p:ph sz="quarter" idx="15"/>
          </p:nvPr>
        </p:nvSpPr>
        <p:spPr>
          <a:xfrm>
            <a:off x="4687986" y="1552575"/>
            <a:ext cx="188595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8" name="Content Placeholder 7"/>
          <p:cNvSpPr>
            <a:spLocks noGrp="1"/>
          </p:cNvSpPr>
          <p:nvPr>
            <p:ph sz="quarter" idx="16"/>
          </p:nvPr>
        </p:nvSpPr>
        <p:spPr>
          <a:xfrm>
            <a:off x="6803378" y="1552575"/>
            <a:ext cx="1885950" cy="44386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p:cNvSpPr>
            <a:spLocks noGrp="1"/>
          </p:cNvSpPr>
          <p:nvPr>
            <p:ph sz="quarter" idx="13"/>
          </p:nvPr>
        </p:nvSpPr>
        <p:spPr>
          <a:xfrm>
            <a:off x="457200" y="1552575"/>
            <a:ext cx="8229600" cy="756871"/>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buFont typeface="Wingdings" panose="05000000000000000000" pitchFamily="2" charset="2"/>
              <a:buChar char="§"/>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6" name="Content Placeholder 7"/>
          <p:cNvSpPr>
            <a:spLocks noGrp="1"/>
          </p:cNvSpPr>
          <p:nvPr>
            <p:ph sz="quarter" idx="14"/>
          </p:nvPr>
        </p:nvSpPr>
        <p:spPr>
          <a:xfrm>
            <a:off x="457200" y="2549371"/>
            <a:ext cx="8229600" cy="101670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buFont typeface="Wingdings" panose="05000000000000000000" pitchFamily="2" charset="2"/>
              <a:buChar char="§"/>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7" name="Content Placeholder 7"/>
          <p:cNvSpPr>
            <a:spLocks noGrp="1"/>
          </p:cNvSpPr>
          <p:nvPr>
            <p:ph sz="quarter" idx="15"/>
          </p:nvPr>
        </p:nvSpPr>
        <p:spPr>
          <a:xfrm>
            <a:off x="457200" y="3805995"/>
            <a:ext cx="8229600" cy="848067"/>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buFont typeface="Wingdings" panose="05000000000000000000" pitchFamily="2" charset="2"/>
              <a:buChar char="§"/>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8" name="Content Placeholder 7"/>
          <p:cNvSpPr>
            <a:spLocks noGrp="1"/>
          </p:cNvSpPr>
          <p:nvPr>
            <p:ph sz="quarter" idx="16"/>
          </p:nvPr>
        </p:nvSpPr>
        <p:spPr>
          <a:xfrm>
            <a:off x="457200" y="4747846"/>
            <a:ext cx="8232128" cy="527540"/>
          </a:xfrm>
        </p:spPr>
        <p:txBody>
          <a:bodyPr/>
          <a:lstStyle>
            <a:lvl1pPr marR="0" indent="-255905"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buFont typeface="Wingdings" panose="05000000000000000000" pitchFamily="2" charset="2"/>
              <a:buChar char="§"/>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Text Placeholder 2"/>
          <p:cNvSpPr>
            <a:spLocks noGrp="1"/>
          </p:cNvSpPr>
          <p:nvPr>
            <p:ph type="body" sz="quarter" idx="17"/>
          </p:nvPr>
        </p:nvSpPr>
        <p:spPr>
          <a:xfrm>
            <a:off x="457200" y="5392738"/>
            <a:ext cx="8229600" cy="668337"/>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p:cNvSpPr>
            <a:spLocks noGrp="1"/>
          </p:cNvSpPr>
          <p:nvPr>
            <p:ph sz="quarter" idx="13"/>
          </p:nvPr>
        </p:nvSpPr>
        <p:spPr>
          <a:xfrm>
            <a:off x="457200" y="1552575"/>
            <a:ext cx="4011769" cy="46940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6" name="Content Placeholder 7"/>
          <p:cNvSpPr>
            <a:spLocks noGrp="1"/>
          </p:cNvSpPr>
          <p:nvPr>
            <p:ph sz="quarter" idx="14"/>
          </p:nvPr>
        </p:nvSpPr>
        <p:spPr>
          <a:xfrm>
            <a:off x="457200" y="2216772"/>
            <a:ext cx="4011769" cy="552186"/>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7" name="Content Placeholder 7"/>
          <p:cNvSpPr>
            <a:spLocks noGrp="1"/>
          </p:cNvSpPr>
          <p:nvPr>
            <p:ph sz="quarter" idx="15"/>
          </p:nvPr>
        </p:nvSpPr>
        <p:spPr>
          <a:xfrm>
            <a:off x="457200" y="2953477"/>
            <a:ext cx="4011769" cy="52536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8" name="Content Placeholder 7"/>
          <p:cNvSpPr>
            <a:spLocks noGrp="1"/>
          </p:cNvSpPr>
          <p:nvPr>
            <p:ph sz="quarter" idx="16"/>
          </p:nvPr>
        </p:nvSpPr>
        <p:spPr>
          <a:xfrm>
            <a:off x="457200" y="3640944"/>
            <a:ext cx="4011769" cy="52536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 name="Content Placeholder 2"/>
          <p:cNvSpPr>
            <a:spLocks noGrp="1"/>
          </p:cNvSpPr>
          <p:nvPr>
            <p:ph sz="quarter" idx="17"/>
          </p:nvPr>
        </p:nvSpPr>
        <p:spPr>
          <a:xfrm>
            <a:off x="457200" y="4352925"/>
            <a:ext cx="4011769" cy="4762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18"/>
          </p:nvPr>
        </p:nvSpPr>
        <p:spPr>
          <a:xfrm>
            <a:off x="457200" y="5010150"/>
            <a:ext cx="4011769" cy="5143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IN" sz="2400" b="0" i="0" u="none" strike="noStrike" cap="none" dirty="0" smtClean="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l" rtl="0">
              <a:spcBef>
                <a:spcPts val="0"/>
              </a:spcBef>
              <a:buClr>
                <a:srgbClr val="007FA3"/>
              </a:buClr>
              <a:buFont typeface="Noto Sans Symbols"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l" rtl="0">
              <a:spcBef>
                <a:spcPts val="0"/>
              </a:spcBef>
              <a:buClr>
                <a:srgbClr val="007FA3"/>
              </a:buClr>
              <a:buFont typeface="Arial" panose="020B0604020202020204"/>
              <a:buNone/>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p:cNvSpPr>
            <a:spLocks noGrp="1"/>
          </p:cNvSpPr>
          <p:nvPr>
            <p:ph type="title" hasCustomPrompt="1"/>
          </p:nvPr>
        </p:nvSpPr>
        <p:spPr/>
        <p:txBody>
          <a:bodyPr/>
          <a:lstStyle>
            <a:lvl1pPr>
              <a:defRPr sz="3600">
                <a:latin typeface="+mj-lt"/>
              </a:defRPr>
            </a:lvl1pPr>
          </a:lstStyle>
          <a:p>
            <a:r>
              <a:rPr lang="en-US" dirty="0"/>
              <a:t>Click to add figure number and title</a:t>
            </a:r>
            <a:endParaRPr lang="en-US" dirty="0"/>
          </a:p>
        </p:txBody>
      </p:sp>
      <p:sp>
        <p:nvSpPr>
          <p:cNvPr id="7" name="Content Placeholder 6"/>
          <p:cNvSpPr>
            <a:spLocks noGrp="1"/>
          </p:cNvSpPr>
          <p:nvPr>
            <p:ph sz="quarter" idx="13" hasCustomPrompt="1"/>
          </p:nvPr>
        </p:nvSpPr>
        <p:spPr>
          <a:xfrm>
            <a:off x="457200" y="1558412"/>
            <a:ext cx="4484688" cy="3754437"/>
          </a:xfrm>
        </p:spPr>
        <p:txBody>
          <a:bodyPr/>
          <a:lstStyle>
            <a:lvl1pPr>
              <a:defRPr/>
            </a:lvl1pPr>
          </a:lstStyle>
          <a:p>
            <a:pPr lvl="0"/>
            <a:r>
              <a:rPr lang="en-US" dirty="0"/>
              <a:t>Figure</a:t>
            </a:r>
            <a:endParaRPr lang="en-US" dirty="0"/>
          </a:p>
        </p:txBody>
      </p:sp>
      <p:sp>
        <p:nvSpPr>
          <p:cNvPr id="12" name="Content Placeholder 11"/>
          <p:cNvSpPr>
            <a:spLocks noGrp="1"/>
          </p:cNvSpPr>
          <p:nvPr>
            <p:ph sz="quarter" idx="15"/>
          </p:nvPr>
        </p:nvSpPr>
        <p:spPr>
          <a:xfrm>
            <a:off x="5048250" y="1558412"/>
            <a:ext cx="3638550" cy="3754437"/>
          </a:xfrm>
        </p:spPr>
        <p:txBody>
          <a:bodyPr/>
          <a:lstStyle>
            <a:lvl1pPr marR="0" indent="-2559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1pPr>
            <a:lvl2pPr marR="0" indent="-28448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2pPr>
            <a:lvl3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3pPr>
            <a:lvl4pPr marR="0" indent="-230505" algn="l" rtl="0">
              <a:lnSpc>
                <a:spcPct val="100000"/>
              </a:lnSpc>
              <a:spcAft>
                <a:spcPts val="0"/>
              </a:spcAft>
              <a:buClr>
                <a:srgbClr val="007FA3"/>
              </a:buClr>
              <a:buSzPct val="100000"/>
              <a:defRPr lang="en-US" sz="2400" b="0" i="0" u="none" strike="noStrike" cap="none" dirty="0" smtClean="0">
                <a:solidFill>
                  <a:schemeClr val="dk1"/>
                </a:solidFill>
                <a:latin typeface="+mn-lt"/>
                <a:ea typeface="Arial" panose="020B0604020202020204"/>
                <a:cs typeface="Arial" panose="020B0604020202020204"/>
                <a:sym typeface="Arial" panose="020B0604020202020204"/>
              </a:defRPr>
            </a:lvl4pPr>
            <a:lvl5pPr marR="0" indent="-230505" algn="l" rtl="0">
              <a:lnSpc>
                <a:spcPct val="100000"/>
              </a:lnSpc>
              <a:spcAft>
                <a:spcPts val="0"/>
              </a:spcAft>
              <a:buClr>
                <a:srgbClr val="007FA3"/>
              </a:buClr>
              <a:buSzPct val="100000"/>
              <a:defRPr lang="en-US" sz="2400" b="0" i="0" u="none" strike="noStrike" cap="none" dirty="0">
                <a:solidFill>
                  <a:schemeClr val="dk1"/>
                </a:solidFill>
                <a:latin typeface="+mn-lt"/>
                <a:ea typeface="Arial" panose="020B0604020202020204"/>
                <a:cs typeface="Arial" panose="020B0604020202020204"/>
                <a:sym typeface="Arial" panose="020B0604020202020204"/>
              </a:defRPr>
            </a:lvl5p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Content Placeholder 7"/>
          <p:cNvSpPr>
            <a:spLocks noGrp="1"/>
          </p:cNvSpPr>
          <p:nvPr>
            <p:ph sz="quarter" idx="14" hasCustomPrompt="1"/>
          </p:nvPr>
        </p:nvSpPr>
        <p:spPr>
          <a:xfrm>
            <a:off x="457200" y="5420799"/>
            <a:ext cx="8229600" cy="533400"/>
          </a:xfrm>
        </p:spPr>
        <p:txBody>
          <a:bodyPr/>
          <a:lstStyle>
            <a:lvl1pPr>
              <a:defRPr/>
            </a:lvl1pPr>
          </a:lstStyle>
          <a:p>
            <a:pPr lvl="0"/>
            <a:r>
              <a:rPr lang="en-US" dirty="0"/>
              <a:t>Caption</a:t>
            </a:r>
            <a:endParaRPr lang="en-US" dirty="0"/>
          </a:p>
        </p:txBody>
      </p:sp>
      <p:sp>
        <p:nvSpPr>
          <p:cNvPr id="3" name="Date Placeholder 2"/>
          <p:cNvSpPr>
            <a:spLocks noGrp="1"/>
          </p:cNvSpPr>
          <p:nvPr>
            <p:ph type="dt" idx="10"/>
          </p:nvPr>
        </p:nvSpPr>
        <p:spPr/>
        <p:txBody>
          <a:bodyPr/>
          <a:lstStyle/>
          <a:p>
            <a:endParaRPr lang="en-US" dirty="0"/>
          </a:p>
        </p:txBody>
      </p:sp>
      <p:sp>
        <p:nvSpPr>
          <p:cNvPr id="4" name="Slide Number Placeholder 3"/>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p:cNvSpPr>
            <a:spLocks noGrp="1"/>
          </p:cNvSpPr>
          <p:nvPr>
            <p:ph type="title" hasCustomPrompt="1"/>
          </p:nvPr>
        </p:nvSpPr>
        <p:spPr/>
        <p:txBody>
          <a:bodyPr/>
          <a:lstStyle>
            <a:lvl1pPr>
              <a:defRPr sz="3600">
                <a:latin typeface="+mj-lt"/>
              </a:defRPr>
            </a:lvl1pPr>
          </a:lstStyle>
          <a:p>
            <a:r>
              <a:rPr lang="en-US" dirty="0"/>
              <a:t>Click to add title</a:t>
            </a:r>
            <a:endParaRPr lang="en-US" dirty="0"/>
          </a:p>
        </p:txBody>
      </p:sp>
      <p:sp>
        <p:nvSpPr>
          <p:cNvPr id="7" name="Image title"/>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endParaRPr lang="en-US" dirty="0"/>
          </a:p>
        </p:txBody>
      </p:sp>
      <p:sp>
        <p:nvSpPr>
          <p:cNvPr id="9" name="Image"/>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endParaRPr lang="en-US" dirty="0"/>
          </a:p>
        </p:txBody>
      </p:sp>
      <p:sp>
        <p:nvSpPr>
          <p:cNvPr id="11" name="Label 1"/>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endParaRPr lang="en-US" dirty="0"/>
          </a:p>
        </p:txBody>
      </p:sp>
      <p:sp>
        <p:nvSpPr>
          <p:cNvPr id="13" name="Label 2"/>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endParaRPr lang="en-US" dirty="0"/>
          </a:p>
        </p:txBody>
      </p:sp>
      <p:sp>
        <p:nvSpPr>
          <p:cNvPr id="15" name="Label 3"/>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endParaRPr lang="en-US" dirty="0"/>
          </a:p>
        </p:txBody>
      </p:sp>
      <p:sp>
        <p:nvSpPr>
          <p:cNvPr id="17" name="Label 4"/>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endParaRPr lang="en-US" dirty="0"/>
          </a:p>
        </p:txBody>
      </p:sp>
      <p:sp>
        <p:nvSpPr>
          <p:cNvPr id="19" name="Label 5"/>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endParaRPr lang="en-US" dirty="0"/>
          </a:p>
        </p:txBody>
      </p:sp>
      <p:sp>
        <p:nvSpPr>
          <p:cNvPr id="21" name="Label 6"/>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endParaRPr lang="en-US" dirty="0"/>
          </a:p>
        </p:txBody>
      </p:sp>
      <p:sp>
        <p:nvSpPr>
          <p:cNvPr id="3" name="Date Placeholder 2"/>
          <p:cNvSpPr>
            <a:spLocks noGrp="1"/>
          </p:cNvSpPr>
          <p:nvPr>
            <p:ph type="dt" idx="10"/>
          </p:nvPr>
        </p:nvSpPr>
        <p:spPr/>
        <p:txBody>
          <a:bodyPr/>
          <a:lstStyle/>
          <a:p>
            <a:endParaRPr lang="en-US" dirty="0"/>
          </a:p>
        </p:txBody>
      </p:sp>
      <p:sp>
        <p:nvSpPr>
          <p:cNvPr id="4" name="Slide Number Placeholder 3"/>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p:cNvSpPr>
            <a:spLocks noGrp="1"/>
          </p:cNvSpPr>
          <p:nvPr>
            <p:ph type="title"/>
          </p:nvPr>
        </p:nvSpPr>
        <p:spPr/>
        <p:txBody>
          <a:bodyPr/>
          <a:lstStyle>
            <a:lvl1pPr>
              <a:defRPr sz="3600">
                <a:latin typeface="+mj-lt"/>
              </a:defRPr>
            </a:lvl1pPr>
          </a:lstStyle>
          <a:p>
            <a:r>
              <a:rPr lang="en-US" dirty="0"/>
              <a:t>Click to edit Master title style</a:t>
            </a:r>
            <a:endParaRPr lang="en-US" dirty="0"/>
          </a:p>
        </p:txBody>
      </p:sp>
      <p:sp>
        <p:nvSpPr>
          <p:cNvPr id="7" name="Image 1 title"/>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endParaRPr lang="en-US" dirty="0"/>
          </a:p>
        </p:txBody>
      </p:sp>
      <p:sp>
        <p:nvSpPr>
          <p:cNvPr id="9" name="Image 1"/>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endParaRPr lang="en-US" dirty="0"/>
          </a:p>
        </p:txBody>
      </p:sp>
      <p:sp>
        <p:nvSpPr>
          <p:cNvPr id="11" name="Label 1.1"/>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endParaRPr lang="en-US" dirty="0"/>
          </a:p>
        </p:txBody>
      </p:sp>
      <p:sp>
        <p:nvSpPr>
          <p:cNvPr id="13" name="Label 1.2"/>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endParaRPr lang="en-US" dirty="0"/>
          </a:p>
        </p:txBody>
      </p:sp>
      <p:sp>
        <p:nvSpPr>
          <p:cNvPr id="15" name="Label 1.3"/>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endParaRPr lang="en-US" dirty="0"/>
          </a:p>
        </p:txBody>
      </p:sp>
      <p:sp>
        <p:nvSpPr>
          <p:cNvPr id="17" name="Image 2 title"/>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endParaRPr lang="en-US" dirty="0"/>
          </a:p>
        </p:txBody>
      </p:sp>
      <p:sp>
        <p:nvSpPr>
          <p:cNvPr id="19" name="Image 2"/>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endParaRPr lang="en-US" dirty="0"/>
          </a:p>
        </p:txBody>
      </p:sp>
      <p:sp>
        <p:nvSpPr>
          <p:cNvPr id="21" name="Label 2.1"/>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endParaRPr lang="en-US" dirty="0"/>
          </a:p>
        </p:txBody>
      </p:sp>
      <p:sp>
        <p:nvSpPr>
          <p:cNvPr id="23" name="Label 2.2"/>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endParaRPr lang="en-US" dirty="0"/>
          </a:p>
        </p:txBody>
      </p:sp>
      <p:sp>
        <p:nvSpPr>
          <p:cNvPr id="25" name="Label 2.3"/>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endParaRPr lang="en-US" dirty="0"/>
          </a:p>
        </p:txBody>
      </p:sp>
      <p:sp>
        <p:nvSpPr>
          <p:cNvPr id="3" name="Date Placeholder 2"/>
          <p:cNvSpPr>
            <a:spLocks noGrp="1"/>
          </p:cNvSpPr>
          <p:nvPr>
            <p:ph type="dt" idx="10"/>
          </p:nvPr>
        </p:nvSpPr>
        <p:spPr/>
        <p:txBody>
          <a:bodyPr/>
          <a:lstStyle/>
          <a:p>
            <a:endParaRPr lang="en-US" dirty="0"/>
          </a:p>
        </p:txBody>
      </p:sp>
      <p:sp>
        <p:nvSpPr>
          <p:cNvPr id="4" name="Slide Number Placeholder 3"/>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600" b="1" i="0" u="none" strike="noStrike" cap="none">
                <a:solidFill>
                  <a:srgbClr val="007FA3"/>
                </a:solidFill>
                <a:latin typeface="+mj-lt"/>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panose="020B0604020202020204"/>
              <a:buNone/>
              <a:defRPr sz="1600" b="0" i="0" u="none" strike="noStrike" cap="none">
                <a:solidFill>
                  <a:srgbClr val="007FA3"/>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600"/>
              </a:spcBef>
              <a:buClr>
                <a:srgbClr val="007FA3"/>
              </a:buClr>
              <a:buFont typeface="Arial" panose="020B0604020202020204"/>
              <a:buNone/>
              <a:defRPr sz="18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600"/>
              </a:spcBef>
              <a:buClr>
                <a:srgbClr val="007FA3"/>
              </a:buClr>
              <a:buFont typeface="Noto Sans Symbols" panose="020B0604020202020204"/>
              <a:buNone/>
              <a:defRPr sz="16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6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6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3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3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3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300"/>
              </a:spcBef>
              <a:buClr>
                <a:srgbClr val="007FA3"/>
              </a:buClr>
              <a:buFont typeface="Arial" panose="020B0604020202020204"/>
              <a:buNone/>
              <a:defRPr sz="14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6" Type="http://schemas.openxmlformats.org/officeDocument/2006/relationships/theme" Target="../theme/theme2.xml"/><Relationship Id="rId15" Type="http://schemas.openxmlformats.org/officeDocument/2006/relationships/image" Target="../media/image1.jpeg"/><Relationship Id="rId14" Type="http://schemas.openxmlformats.org/officeDocument/2006/relationships/slideLayout" Target="../slideLayouts/slideLayout15.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5905" marR="0" lvl="0" indent="-154305" algn="l" rtl="0">
              <a:spcBef>
                <a:spcPts val="15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742950" marR="0" lvl="1" indent="-18415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143000" marR="0" lvl="2" indent="-127000" algn="l" rtl="0">
              <a:spcBef>
                <a:spcPts val="600"/>
              </a:spcBef>
              <a:buClr>
                <a:srgbClr val="007FA3"/>
              </a:buClr>
              <a:buSzPct val="100000"/>
              <a:buFont typeface="Noto Sans Symbols"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600200" marR="0" lvl="3" indent="-12700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057400" marR="0" lvl="4" indent="-12700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514600" marR="0" lvl="5"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971800" marR="0" lvl="6"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429000" marR="0" lvl="7"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886200" marR="0" lvl="8"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fld>
            <a:endParaRPr lang="en-US" sz="900" dirty="0"/>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panose="020B0604020202020204"/>
          <a:cs typeface="Arial" panose="020B0604020202020204"/>
          <a:sym typeface="Arial" panose="020B060402020202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panose="02020603050405020304"/>
              <a:buNone/>
              <a:defRPr sz="3400" b="1" i="0" u="none" strike="noStrike" cap="none">
                <a:solidFill>
                  <a:srgbClr val="007FA3"/>
                </a:solidFill>
                <a:latin typeface="Times New Roman" panose="02020603050405020304"/>
                <a:ea typeface="Times New Roman" panose="02020603050405020304"/>
                <a:cs typeface="Times New Roman" panose="02020603050405020304"/>
                <a:sym typeface="Times New Roman" panose="02020603050405020304"/>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5905" marR="0" lvl="0" indent="-154305" algn="l" rtl="0">
              <a:spcBef>
                <a:spcPts val="15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742950" marR="0" lvl="1" indent="-18415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143000" marR="0" lvl="2" indent="-127000" algn="l" rtl="0">
              <a:spcBef>
                <a:spcPts val="600"/>
              </a:spcBef>
              <a:buClr>
                <a:srgbClr val="007FA3"/>
              </a:buClr>
              <a:buSzPct val="100000"/>
              <a:buFont typeface="Noto Sans Symbols"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600200" marR="0" lvl="3" indent="-12700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057400" marR="0" lvl="4" indent="-127000" algn="l" rtl="0">
              <a:spcBef>
                <a:spcPts val="6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514600" marR="0" lvl="5"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971800" marR="0" lvl="6"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429000" marR="0" lvl="7"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886200" marR="0" lvl="8" indent="-127000" algn="l" rtl="0">
              <a:spcBef>
                <a:spcPts val="300"/>
              </a:spcBef>
              <a:buClr>
                <a:srgbClr val="007FA3"/>
              </a:buClr>
              <a:buSzPct val="100000"/>
              <a:buFont typeface="Arial" panose="020B0604020202020204"/>
              <a:buChar char="•"/>
              <a:defRPr sz="16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defRPr/>
            </a:pPr>
            <a:r>
              <a:rPr lang="en-US" altLang="en-US" sz="1200" b="0" dirty="0">
                <a:latin typeface="Verdana" panose="020B0604030504040204"/>
                <a:ea typeface="Verdana" panose="020B0604030504040204" pitchFamily="34" charset="0"/>
                <a:cs typeface="Verdana" panose="020B0604030504040204" pitchFamily="34" charset="0"/>
              </a:rPr>
              <a:t>Copyright © 2022, 2019, 2018 Pearson Education, Inc. All Rights Reserved</a:t>
            </a:r>
            <a:endParaRPr lang="en-US" altLang="en-US" sz="1200" b="0" dirty="0">
              <a:latin typeface="Verdana" panose="020B0604030504040204"/>
              <a:ea typeface="Verdana" panose="020B0604030504040204" pitchFamily="34" charset="0"/>
              <a:cs typeface="Verdana" panose="020B0604030504040204" pitchFamily="34" charset="0"/>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457200" marR="0" lvl="1"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914400" marR="0" lvl="2"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371600" marR="0" lvl="3"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828800" marR="0" lvl="4"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6000" marR="0" lvl="5"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743200" marR="0" lvl="6"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200400" marR="0" lvl="7"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657600" marR="0" lvl="8" indent="0" algn="l" rtl="0">
              <a:spcBef>
                <a:spcPts val="0"/>
              </a:spcBef>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panose="020B0604020202020204"/>
                <a:ea typeface="Arial" panose="020B0604020202020204"/>
                <a:cs typeface="Arial" panose="020B0604020202020204"/>
                <a:sym typeface="Arial" panose="020B0604020202020204"/>
              </a:rPr>
            </a:fld>
            <a:endParaRPr lang="en-US" sz="9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pic>
        <p:nvPicPr>
          <p:cNvPr id="8" name="Picture Placeholder 21" descr="Pearson Logo"/>
          <p:cNvPicPr>
            <a:picLocks noChangeAspect="1"/>
          </p:cNvPicPr>
          <p:nvPr userDrawn="1"/>
        </p:nvPicPr>
        <p:blipFill>
          <a:blip r:embed="rId15"/>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panose="020B0604020202020204"/>
          <a:cs typeface="Arial" panose="020B0604020202020204"/>
          <a:sym typeface="Arial" panose="020B060402020202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hyperlink" Target="http://www.azimuth-interactive.com/"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9.xml"/><Relationship Id="rId1" Type="http://schemas.openxmlformats.org/officeDocument/2006/relationships/hyperlink" Target="http://megacorp.com/content/features/082602.html"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4.xml"/><Relationship Id="rId2" Type="http://schemas.openxmlformats.org/officeDocument/2006/relationships/image" Target="../media/image11.sv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43692"/>
            <a:ext cx="8229601" cy="987333"/>
          </a:xfrm>
        </p:spPr>
        <p:txBody>
          <a:bodyPr anchor="ctr"/>
          <a:lstStyle/>
          <a:p>
            <a:r>
              <a:rPr lang="en-US" altLang="en-US" sz="3000" dirty="0">
                <a:solidFill>
                  <a:schemeClr val="tx2"/>
                </a:solidFill>
                <a:cs typeface="Times New Roman" panose="02020603050405020304" pitchFamily="18" charset="0"/>
              </a:rPr>
              <a:t>E-commerce 2021: Business. Technology. Society.</a:t>
            </a:r>
            <a:endParaRPr lang="en-US" sz="3000" dirty="0"/>
          </a:p>
        </p:txBody>
      </p:sp>
      <p:sp>
        <p:nvSpPr>
          <p:cNvPr id="3" name="Content Placeholder 2"/>
          <p:cNvSpPr>
            <a:spLocks noGrp="1"/>
          </p:cNvSpPr>
          <p:nvPr>
            <p:ph type="body" idx="1"/>
          </p:nvPr>
        </p:nvSpPr>
        <p:spPr>
          <a:xfrm>
            <a:off x="457200" y="1212419"/>
            <a:ext cx="8229600" cy="413524"/>
          </a:xfrm>
        </p:spPr>
        <p:txBody>
          <a:bodyPr anchor="ctr"/>
          <a:lstStyle/>
          <a:p>
            <a:r>
              <a:rPr lang="en-US" dirty="0">
                <a:solidFill>
                  <a:schemeClr val="tx2"/>
                </a:solidFill>
              </a:rPr>
              <a:t>Sixteenth Edition</a:t>
            </a:r>
            <a:endParaRPr lang="en-US" dirty="0">
              <a:solidFill>
                <a:schemeClr val="tx2"/>
              </a:solidFill>
            </a:endParaRPr>
          </a:p>
        </p:txBody>
      </p:sp>
      <p:sp>
        <p:nvSpPr>
          <p:cNvPr id="5" name="Content Placeholder 4"/>
          <p:cNvSpPr>
            <a:spLocks noGrp="1"/>
          </p:cNvSpPr>
          <p:nvPr>
            <p:ph sz="quarter" idx="14"/>
          </p:nvPr>
        </p:nvSpPr>
        <p:spPr>
          <a:xfrm>
            <a:off x="5029200" y="1906104"/>
            <a:ext cx="3657600" cy="1186345"/>
          </a:xfrm>
        </p:spPr>
        <p:txBody>
          <a:bodyPr/>
          <a:lstStyle/>
          <a:p>
            <a:pPr marL="0" algn="ctr"/>
            <a:r>
              <a:rPr lang="en-US" b="1" dirty="0">
                <a:latin typeface="+mn-lt"/>
              </a:rPr>
              <a:t>Chapter 3</a:t>
            </a:r>
            <a:endParaRPr lang="en-US" b="1" dirty="0">
              <a:latin typeface="+mn-lt"/>
            </a:endParaRPr>
          </a:p>
        </p:txBody>
      </p:sp>
      <p:sp>
        <p:nvSpPr>
          <p:cNvPr id="6" name="Content Placeholder 5"/>
          <p:cNvSpPr>
            <a:spLocks noGrp="1"/>
          </p:cNvSpPr>
          <p:nvPr>
            <p:ph sz="quarter" idx="15"/>
          </p:nvPr>
        </p:nvSpPr>
        <p:spPr>
          <a:xfrm>
            <a:off x="4953288" y="3252789"/>
            <a:ext cx="3809424" cy="1552675"/>
          </a:xfrm>
        </p:spPr>
        <p:txBody>
          <a:bodyPr/>
          <a:lstStyle/>
          <a:p>
            <a:r>
              <a:rPr lang="en-US" dirty="0"/>
              <a:t>E-commerce Infrastructure: The Internet, Web, and Mobile Platform</a:t>
            </a:r>
            <a:endParaRPr lang="en-US" dirty="0"/>
          </a:p>
        </p:txBody>
      </p:sp>
      <p:pic>
        <p:nvPicPr>
          <p:cNvPr id="10" name="Picture 9" descr="Front Cover: E-commerce 2021: Business. Technology. Society. Sixteenth Edition by Laudon and Traver."/>
          <p:cNvPicPr>
            <a:picLocks noChangeAspect="1"/>
          </p:cNvPicPr>
          <p:nvPr/>
        </p:nvPicPr>
        <p:blipFill>
          <a:blip r:embed="rId1"/>
          <a:stretch>
            <a:fillRect/>
          </a:stretch>
        </p:blipFill>
        <p:spPr>
          <a:xfrm>
            <a:off x="597266" y="1694010"/>
            <a:ext cx="3600000" cy="4525828"/>
          </a:xfrm>
          <a:prstGeom prst="rect">
            <a:avLst/>
          </a:prstGeom>
          <a:ln w="9525">
            <a:solidFill>
              <a:schemeClr val="tx1"/>
            </a:solidFill>
          </a:ln>
          <a:effectLst/>
        </p:spPr>
      </p:pic>
      <p:sp>
        <p:nvSpPr>
          <p:cNvPr id="8" name="Content Placeholder 7"/>
          <p:cNvSpPr>
            <a:spLocks noGrp="1"/>
          </p:cNvSpPr>
          <p:nvPr>
            <p:ph sz="quarter" idx="17"/>
          </p:nvPr>
        </p:nvSpPr>
        <p:spPr>
          <a:xfrm>
            <a:off x="2173000" y="6415232"/>
            <a:ext cx="6589712" cy="228600"/>
          </a:xfrm>
        </p:spPr>
        <p:txBody>
          <a:bodyPr/>
          <a:lstStyle/>
          <a:p>
            <a:pPr marL="0" indent="0"/>
            <a:r>
              <a:rPr lang="en-US" altLang="en-US" sz="1200" b="0" dirty="0">
                <a:latin typeface="Verdana" panose="020B0604030504040204"/>
                <a:ea typeface="Verdana" panose="020B0604030504040204" pitchFamily="34" charset="0"/>
                <a:cs typeface="Verdana" panose="020B0604030504040204" pitchFamily="34" charset="0"/>
              </a:rPr>
              <a:t>Copyright © </a:t>
            </a:r>
            <a:r>
              <a:rPr lang="en-IN" dirty="0"/>
              <a:t>2022, 2019, 2018 </a:t>
            </a:r>
            <a:r>
              <a:rPr lang="en-US" altLang="en-US" sz="1200" b="0" dirty="0">
                <a:latin typeface="Verdana" panose="020B0604030504040204"/>
                <a:ea typeface="Verdana" panose="020B0604030504040204" pitchFamily="34" charset="0"/>
                <a:cs typeface="Verdana" panose="020B0604030504040204" pitchFamily="34" charset="0"/>
              </a:rPr>
              <a:t>Pearson Education, Inc. All Rights Reserved</a:t>
            </a:r>
            <a:endParaRPr lang="en-US" altLang="en-US" sz="1200" b="0" dirty="0">
              <a:latin typeface="Verdana" panose="020B0604030504040204"/>
              <a:ea typeface="Verdana" panose="020B0604030504040204" pitchFamily="34" charset="0"/>
              <a:cs typeface="Verdana" panose="020B0604030504040204" pitchFamily="34" charset="0"/>
            </a:endParaRPr>
          </a:p>
        </p:txBody>
      </p:sp>
      <p:pic>
        <p:nvPicPr>
          <p:cNvPr id="22" name="Picture Placeholder 21" descr="Pearson Logo"/>
          <p:cNvPicPr>
            <a:picLocks noGrp="1" noChangeAspect="1"/>
          </p:cNvPicPr>
          <p:nvPr>
            <p:ph type="pic" sz="quarter" idx="16"/>
          </p:nvPr>
        </p:nvPicPr>
        <p:blipFill>
          <a:blip r:embed="rId2"/>
          <a:srcRect t="22152" b="22152"/>
          <a:stretch>
            <a:fillRect/>
          </a:stretch>
        </p:blipFill>
        <p:spPr>
          <a:xfrm>
            <a:off x="315677" y="6420639"/>
            <a:ext cx="1176574" cy="296443"/>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Learning Objectives</a:t>
            </a:r>
            <a:endParaRPr lang="en-IN" dirty="0"/>
          </a:p>
        </p:txBody>
      </p:sp>
      <p:sp>
        <p:nvSpPr>
          <p:cNvPr id="5" name="Content Placeholder 4"/>
          <p:cNvSpPr>
            <a:spLocks noGrp="1"/>
          </p:cNvSpPr>
          <p:nvPr>
            <p:ph sz="quarter" idx="13"/>
          </p:nvPr>
        </p:nvSpPr>
        <p:spPr>
          <a:xfrm>
            <a:off x="457200" y="1554920"/>
            <a:ext cx="8140535" cy="4663335"/>
          </a:xfrm>
        </p:spPr>
        <p:txBody>
          <a:bodyPr/>
          <a:lstStyle/>
          <a:p>
            <a:pPr marL="0" lvl="0" indent="0">
              <a:spcAft>
                <a:spcPct val="0"/>
              </a:spcAft>
              <a:buSzPts val="2400"/>
              <a:buNone/>
            </a:pPr>
            <a:r>
              <a:rPr lang="en-US" b="1" kern="1200" dirty="0">
                <a:solidFill>
                  <a:schemeClr val="tx2"/>
                </a:solidFill>
                <a:latin typeface="Arial" panose="020B0604020202020204" pitchFamily="34" charset="0"/>
              </a:rPr>
              <a:t>3.1</a:t>
            </a:r>
            <a:r>
              <a:rPr lang="en-US" b="1"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Discuss the origins of, and the key technology concepts behind, the Internet.</a:t>
            </a:r>
            <a:endParaRPr lang="en-US" kern="1200" dirty="0">
              <a:solidFill>
                <a:srgbClr val="000000"/>
              </a:solidFill>
              <a:latin typeface="Arial" panose="020B0604020202020204" pitchFamily="34" charset="0"/>
            </a:endParaRPr>
          </a:p>
          <a:p>
            <a:pPr marL="0" lvl="0" indent="0">
              <a:spcAft>
                <a:spcPct val="0"/>
              </a:spcAft>
              <a:buSzPts val="2400"/>
              <a:buNone/>
            </a:pPr>
            <a:r>
              <a:rPr lang="en-US" b="1" kern="1200" dirty="0">
                <a:solidFill>
                  <a:schemeClr val="tx2"/>
                </a:solidFill>
                <a:latin typeface="Arial" panose="020B0604020202020204" pitchFamily="34" charset="0"/>
              </a:rPr>
              <a:t>3.2</a:t>
            </a:r>
            <a:r>
              <a:rPr lang="en-US" b="1"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Explain the current structure of the Internet.</a:t>
            </a:r>
            <a:endParaRPr lang="en-US" kern="1200" dirty="0">
              <a:solidFill>
                <a:srgbClr val="000000"/>
              </a:solidFill>
              <a:latin typeface="Arial" panose="020B0604020202020204" pitchFamily="34" charset="0"/>
            </a:endParaRPr>
          </a:p>
          <a:p>
            <a:pPr marL="0" lvl="0" indent="0">
              <a:spcAft>
                <a:spcPct val="0"/>
              </a:spcAft>
              <a:buSzPts val="2400"/>
              <a:buNone/>
            </a:pPr>
            <a:r>
              <a:rPr lang="en-US" b="1" kern="1200" dirty="0">
                <a:solidFill>
                  <a:schemeClr val="tx2"/>
                </a:solidFill>
                <a:latin typeface="Arial" panose="020B0604020202020204" pitchFamily="34" charset="0"/>
              </a:rPr>
              <a:t>3.3</a:t>
            </a:r>
            <a:r>
              <a:rPr lang="en-US" b="1"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Understand how the Web works.</a:t>
            </a:r>
            <a:endParaRPr lang="en-US" kern="1200" dirty="0">
              <a:solidFill>
                <a:srgbClr val="000000"/>
              </a:solidFill>
              <a:latin typeface="Arial" panose="020B0604020202020204" pitchFamily="34" charset="0"/>
            </a:endParaRPr>
          </a:p>
          <a:p>
            <a:pPr marL="0" lvl="0" indent="0">
              <a:spcAft>
                <a:spcPct val="0"/>
              </a:spcAft>
              <a:buSzPts val="2400"/>
              <a:buNone/>
            </a:pPr>
            <a:r>
              <a:rPr lang="en-US" b="1" kern="1200" dirty="0">
                <a:solidFill>
                  <a:schemeClr val="tx2"/>
                </a:solidFill>
                <a:latin typeface="Arial" panose="020B0604020202020204" pitchFamily="34" charset="0"/>
              </a:rPr>
              <a:t>3.4</a:t>
            </a:r>
            <a:r>
              <a:rPr lang="en-US" b="1"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Describe how Internet and web features and services support e-commerce.</a:t>
            </a:r>
            <a:endParaRPr lang="en-US" kern="1200" dirty="0">
              <a:solidFill>
                <a:srgbClr val="000000"/>
              </a:solidFill>
              <a:latin typeface="Arial" panose="020B0604020202020204" pitchFamily="34" charset="0"/>
            </a:endParaRPr>
          </a:p>
          <a:p>
            <a:pPr marL="0" lvl="0" indent="0">
              <a:spcAft>
                <a:spcPct val="0"/>
              </a:spcAft>
              <a:buSzPts val="2400"/>
              <a:buNone/>
            </a:pPr>
            <a:r>
              <a:rPr lang="en-US" b="1" kern="1200" dirty="0">
                <a:solidFill>
                  <a:schemeClr val="tx2"/>
                </a:solidFill>
                <a:latin typeface="Arial" panose="020B0604020202020204" pitchFamily="34" charset="0"/>
              </a:rPr>
              <a:t>3.5</a:t>
            </a:r>
            <a:r>
              <a:rPr lang="en-US" b="1"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Understand the impact of mobile applications.</a:t>
            </a:r>
            <a:endParaRPr lang="en-US" kern="1200" dirty="0">
              <a:solidFill>
                <a:srgbClr val="000000"/>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kern="1200" dirty="0">
                <a:cs typeface="Times New Roman" panose="02020603050405020304" pitchFamily="18" charset="0"/>
              </a:rPr>
              <a:t>The Covid-19 Pandemic: Will the Internet Break?</a:t>
            </a:r>
            <a:endParaRPr lang="en-IN" sz="32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Class Discussion</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How has your usage of the Internet changed as a result of the pandemic?</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Why are fears that the Internet will break misguided?</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How has the pandemic highlighted the issues raised by the “digital divide”?</a:t>
            </a:r>
            <a:endParaRPr lang="en-US" kern="1200" dirty="0">
              <a:solidFill>
                <a:srgbClr val="000000"/>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kern="1200" dirty="0">
                <a:cs typeface="Times New Roman" panose="02020603050405020304" pitchFamily="18" charset="0"/>
              </a:rPr>
              <a:t>The Internet: Technology Background</a:t>
            </a:r>
            <a:endParaRPr lang="en-IN" sz="3200" dirty="0"/>
          </a:p>
        </p:txBody>
      </p:sp>
      <p:sp>
        <p:nvSpPr>
          <p:cNvPr id="5" name="Content Placeholder 4"/>
          <p:cNvSpPr>
            <a:spLocks noGrp="1"/>
          </p:cNvSpPr>
          <p:nvPr>
            <p:ph sz="quarter" idx="13"/>
          </p:nvPr>
        </p:nvSpPr>
        <p:spPr>
          <a:xfrm>
            <a:off x="457201" y="1554920"/>
            <a:ext cx="8081158" cy="4663335"/>
          </a:xfrm>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Internet</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Interconnected network of thousands of networks and millions of computers</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Links businesses, educational institutions, government agencies, and individuals</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World Wide Web (Web)</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One of the Internet</a:t>
            </a:r>
            <a:r>
              <a:rPr lang="en-US" altLang="ja-JP" kern="1200" dirty="0">
                <a:solidFill>
                  <a:srgbClr val="000000"/>
                </a:solidFill>
                <a:latin typeface="Arial" panose="020B0604020202020204" pitchFamily="34" charset="0"/>
              </a:rPr>
              <a:t>’s most popular services</a:t>
            </a:r>
            <a:endParaRPr lang="en-US" altLang="ja-JP"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Provides access to billions, possibly trillions, of web pages</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6913418" cy="1097279"/>
          </a:xfrm>
        </p:spPr>
        <p:txBody>
          <a:bodyPr/>
          <a:lstStyle/>
          <a:p>
            <a:r>
              <a:rPr lang="en-IN" altLang="en-US" sz="3200" kern="1200" dirty="0">
                <a:cs typeface="Times New Roman" panose="02020603050405020304" pitchFamily="18" charset="0"/>
              </a:rPr>
              <a:t>The Evolution of the Internet 1961–Present</a:t>
            </a:r>
            <a:endParaRPr lang="en-IN" sz="32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Innovation Phase, 1961–1974</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Creation of fundamental building blocks</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Institutionalization Phase, 1975–1995</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Large institutions provide funding and legitimization</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Commercialization Phase, 1995–present</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Private corporations take over, expand Internet backbone and local service</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kern="1200" dirty="0">
                <a:cs typeface="Times New Roman" panose="02020603050405020304" pitchFamily="18" charset="0"/>
              </a:rPr>
              <a:t>The Internet: Key Technology Concepts</a:t>
            </a:r>
            <a:endParaRPr lang="en-IN" sz="32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Internet defined as network that:</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Uses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addressing</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Supports 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C</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Provides services to users, in manner similar to telephone system</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Three important concepts: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Packet switching</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C</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communications protocol</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Client/server computing</a:t>
            </a:r>
            <a:endParaRPr lang="en-US" kern="1200" dirty="0">
              <a:solidFill>
                <a:srgbClr val="000000"/>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Packet Switching</a:t>
            </a:r>
            <a:endParaRPr lang="en-IN"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Slices digital messages into packets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Sends packets along different communication paths as they become available</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Reassembles packets once they arrive at destination</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Uses routers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Less expensive, wasteful than circuit-switching</a:t>
            </a:r>
            <a:endParaRPr lang="en-US" kern="1200" dirty="0">
              <a:solidFill>
                <a:srgbClr val="00000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Figure 3.3 Packet Switching</a:t>
            </a:r>
            <a:endParaRPr lang="en-IN" dirty="0"/>
          </a:p>
        </p:txBody>
      </p:sp>
      <p:pic>
        <p:nvPicPr>
          <p:cNvPr id="7" name="Content Placeholder 6" descr="An illustration explains how packet switching works. For a full description, see Notes. Press F6."/>
          <p:cNvPicPr>
            <a:picLocks noGrp="1" noChangeAspect="1"/>
          </p:cNvPicPr>
          <p:nvPr>
            <p:ph sz="quarter" idx="13"/>
          </p:nvPr>
        </p:nvPicPr>
        <p:blipFill rotWithShape="1">
          <a:blip r:embed="rId1"/>
          <a:srcRect b="8505"/>
          <a:stretch>
            <a:fillRect/>
          </a:stretch>
        </p:blipFill>
        <p:spPr>
          <a:xfrm>
            <a:off x="561488" y="1686049"/>
            <a:ext cx="8021025" cy="4173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T</a:t>
            </a:r>
            <a:r>
              <a:rPr lang="en-US" sz="100" kern="1200" dirty="0">
                <a:cs typeface="Times New Roman" panose="02020603050405020304" pitchFamily="18" charset="0"/>
              </a:rPr>
              <a:t> </a:t>
            </a:r>
            <a:r>
              <a:rPr lang="en-US" kern="1200" dirty="0">
                <a:cs typeface="Times New Roman" panose="02020603050405020304" pitchFamily="18" charset="0"/>
              </a:rPr>
              <a:t>C</a:t>
            </a:r>
            <a:r>
              <a:rPr lang="en-US" sz="100" kern="1200" dirty="0">
                <a:cs typeface="Times New Roman" panose="02020603050405020304" pitchFamily="18" charset="0"/>
              </a:rPr>
              <a:t> </a:t>
            </a:r>
            <a:r>
              <a:rPr lang="en-US" kern="1200" dirty="0">
                <a:cs typeface="Times New Roman" panose="02020603050405020304" pitchFamily="18" charset="0"/>
              </a:rPr>
              <a:t>P/I</a:t>
            </a:r>
            <a:r>
              <a:rPr lang="en-US" sz="100" kern="1200" dirty="0">
                <a:cs typeface="Times New Roman" panose="02020603050405020304" pitchFamily="18" charset="0"/>
              </a:rPr>
              <a:t> </a:t>
            </a:r>
            <a:r>
              <a:rPr lang="en-US" kern="1200" dirty="0">
                <a:cs typeface="Times New Roman" panose="02020603050405020304" pitchFamily="18" charset="0"/>
              </a:rPr>
              <a:t>P</a:t>
            </a:r>
            <a:endParaRPr lang="en-IN" dirty="0"/>
          </a:p>
        </p:txBody>
      </p:sp>
      <p:sp>
        <p:nvSpPr>
          <p:cNvPr id="5" name="Content Placeholder 4"/>
          <p:cNvSpPr>
            <a:spLocks noGrp="1"/>
          </p:cNvSpPr>
          <p:nvPr>
            <p:ph sz="quarter" idx="13"/>
          </p:nvPr>
        </p:nvSpPr>
        <p:spPr>
          <a:xfrm>
            <a:off x="457200" y="1554920"/>
            <a:ext cx="7998031" cy="4790318"/>
          </a:xfrm>
        </p:spPr>
        <p:txBody>
          <a:bodyPr/>
          <a:lstStyle/>
          <a:p>
            <a:pPr marL="255905" lvl="0" indent="-255905">
              <a:spcAft>
                <a:spcPct val="0"/>
              </a:spcAft>
            </a:pPr>
            <a:r>
              <a:rPr lang="en-US" altLang="en-US" sz="2200" kern="1200" dirty="0">
                <a:solidFill>
                  <a:srgbClr val="000000"/>
                </a:solidFill>
                <a:latin typeface="Arial" panose="020B0604020202020204" pitchFamily="34" charset="0"/>
              </a:rPr>
              <a:t>Transmission Control Protocol (T</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C</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Establishes connections among sending and receiving Web computers</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Handles assembly of packets at point of transmission, and reassembly at receiving end</a:t>
            </a:r>
            <a:endParaRPr lang="en-US" altLang="en-US" sz="2200" kern="1200" dirty="0">
              <a:solidFill>
                <a:srgbClr val="000000"/>
              </a:solidFill>
              <a:latin typeface="Arial" panose="020B0604020202020204" pitchFamily="34" charset="0"/>
            </a:endParaRPr>
          </a:p>
          <a:p>
            <a:pPr marL="255905" lvl="0" indent="-255905">
              <a:spcAft>
                <a:spcPct val="0"/>
              </a:spcAft>
            </a:pPr>
            <a:r>
              <a:rPr lang="en-US" altLang="en-US" sz="2200" kern="1200" dirty="0">
                <a:solidFill>
                  <a:srgbClr val="000000"/>
                </a:solidFill>
                <a:latin typeface="Arial" panose="020B0604020202020204" pitchFamily="34" charset="0"/>
              </a:rPr>
              <a:t>Internet Protocol (I</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a:t>
            </a:r>
            <a:endParaRPr lang="en-US" altLang="en-US" sz="2200" kern="1200" dirty="0">
              <a:solidFill>
                <a:srgbClr val="000000"/>
              </a:solidFill>
              <a:latin typeface="Arial" panose="020B0604020202020204" pitchFamily="34" charset="0"/>
            </a:endParaRPr>
          </a:p>
          <a:p>
            <a:pPr marL="255905" lvl="0" indent="-255905">
              <a:spcAft>
                <a:spcPct val="0"/>
              </a:spcAft>
            </a:pPr>
            <a:r>
              <a:rPr lang="en-US" altLang="en-US" sz="2200" kern="1200" dirty="0">
                <a:solidFill>
                  <a:srgbClr val="000000"/>
                </a:solidFill>
                <a:latin typeface="Arial" panose="020B0604020202020204" pitchFamily="34" charset="0"/>
              </a:rPr>
              <a:t>Four T</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C</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P/I</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 layers</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Network interface layer</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Internet layer</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Transport layer</a:t>
            </a:r>
            <a:endParaRPr lang="en-US" altLang="en-US" sz="2200" kern="1200" dirty="0">
              <a:solidFill>
                <a:srgbClr val="000000"/>
              </a:solidFill>
              <a:latin typeface="Arial" panose="020B0604020202020204" pitchFamily="34" charset="0"/>
            </a:endParaRPr>
          </a:p>
          <a:p>
            <a:pPr marL="741680" lvl="1" indent="-284480">
              <a:spcAft>
                <a:spcPct val="0"/>
              </a:spcAft>
            </a:pPr>
            <a:r>
              <a:rPr lang="en-US" altLang="en-US" sz="2200" kern="1200" dirty="0">
                <a:solidFill>
                  <a:srgbClr val="000000"/>
                </a:solidFill>
                <a:latin typeface="Arial" panose="020B0604020202020204" pitchFamily="34" charset="0"/>
              </a:rPr>
              <a:t>Application layer</a:t>
            </a:r>
            <a:endParaRPr lang="en-US" sz="2200" kern="1200" dirty="0">
              <a:solidFill>
                <a:srgbClr val="000000"/>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kern="1200" dirty="0">
                <a:cs typeface="Times New Roman" panose="02020603050405020304" pitchFamily="18" charset="0"/>
              </a:rPr>
              <a:t>Figure 3.4 The T</a:t>
            </a:r>
            <a:r>
              <a:rPr lang="en-IN" sz="100" kern="1200" dirty="0">
                <a:cs typeface="Times New Roman" panose="02020603050405020304" pitchFamily="18" charset="0"/>
              </a:rPr>
              <a:t> </a:t>
            </a:r>
            <a:r>
              <a:rPr lang="en-IN" sz="3200" kern="1200" dirty="0">
                <a:cs typeface="Times New Roman" panose="02020603050405020304" pitchFamily="18" charset="0"/>
              </a:rPr>
              <a:t>C</a:t>
            </a:r>
            <a:r>
              <a:rPr lang="en-IN" sz="100" kern="1200" dirty="0">
                <a:cs typeface="Times New Roman" panose="02020603050405020304" pitchFamily="18" charset="0"/>
              </a:rPr>
              <a:t> </a:t>
            </a:r>
            <a:r>
              <a:rPr lang="en-IN" sz="3200" kern="1200" dirty="0">
                <a:cs typeface="Times New Roman" panose="02020603050405020304" pitchFamily="18" charset="0"/>
              </a:rPr>
              <a:t>P/I</a:t>
            </a:r>
            <a:r>
              <a:rPr lang="en-IN" sz="100" kern="1200" dirty="0">
                <a:cs typeface="Times New Roman" panose="02020603050405020304" pitchFamily="18" charset="0"/>
              </a:rPr>
              <a:t> </a:t>
            </a:r>
            <a:r>
              <a:rPr lang="en-IN" sz="3200" kern="1200" dirty="0">
                <a:cs typeface="Times New Roman" panose="02020603050405020304" pitchFamily="18" charset="0"/>
              </a:rPr>
              <a:t>P Architecture and Protocol Suite</a:t>
            </a:r>
            <a:endParaRPr lang="en-IN" sz="3200" dirty="0"/>
          </a:p>
        </p:txBody>
      </p:sp>
      <p:pic>
        <p:nvPicPr>
          <p:cNvPr id="7" name="Content Placeholder 6" descr="An illustration depicts the T C P and I P protocol architecture layers and the related elements of the T C P and I P protocol suite. For a full description, see Notes. Press F6."/>
          <p:cNvPicPr>
            <a:picLocks noGrp="1" noChangeAspect="1"/>
          </p:cNvPicPr>
          <p:nvPr>
            <p:ph sz="quarter" idx="13"/>
          </p:nvPr>
        </p:nvPicPr>
        <p:blipFill rotWithShape="1">
          <a:blip r:embed="rId1"/>
          <a:srcRect b="5875"/>
          <a:stretch>
            <a:fillRect/>
          </a:stretch>
        </p:blipFill>
        <p:spPr>
          <a:xfrm>
            <a:off x="651932" y="1607966"/>
            <a:ext cx="7840136" cy="44128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Internet (I</a:t>
            </a:r>
            <a:r>
              <a:rPr lang="en-US" sz="100" kern="1200" dirty="0">
                <a:cs typeface="Times New Roman" panose="02020603050405020304" pitchFamily="18" charset="0"/>
              </a:rPr>
              <a:t> </a:t>
            </a:r>
            <a:r>
              <a:rPr lang="en-US" kern="1200" dirty="0">
                <a:cs typeface="Times New Roman" panose="02020603050405020304" pitchFamily="18" charset="0"/>
              </a:rPr>
              <a:t>P) Addresses</a:t>
            </a:r>
            <a:endParaRPr lang="en-IN"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v4</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32-bit number</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Four sets of numbers marked off by periods: 201.61.186.227</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Class C address: Network identified by first three sets, computer identified by last set</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v6</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128-bit addresses, able to handle up to 1 quadrillion addresses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v4 can handle only 4 billion)</a:t>
            </a:r>
            <a:endParaRPr lang="en-US" kern="1200" dirty="0">
              <a:solidFill>
                <a:srgbClr val="000000"/>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7843652" cy="1097279"/>
          </a:xfrm>
        </p:spPr>
        <p:txBody>
          <a:bodyPr/>
          <a:lstStyle/>
          <a:p>
            <a:r>
              <a:rPr lang="en-IN" sz="3200" kern="1200" dirty="0">
                <a:cs typeface="Times New Roman" panose="02020603050405020304" pitchFamily="18" charset="0"/>
              </a:rPr>
              <a:t>Figure 3.5 Routing Internet Messages: T</a:t>
            </a:r>
            <a:r>
              <a:rPr lang="en-IN" sz="100" kern="1200" dirty="0">
                <a:cs typeface="Times New Roman" panose="02020603050405020304" pitchFamily="18" charset="0"/>
              </a:rPr>
              <a:t> </a:t>
            </a:r>
            <a:r>
              <a:rPr lang="en-IN" sz="3200" kern="1200" dirty="0">
                <a:cs typeface="Times New Roman" panose="02020603050405020304" pitchFamily="18" charset="0"/>
              </a:rPr>
              <a:t>C</a:t>
            </a:r>
            <a:r>
              <a:rPr lang="en-IN" sz="100" kern="1200" dirty="0">
                <a:cs typeface="Times New Roman" panose="02020603050405020304" pitchFamily="18" charset="0"/>
              </a:rPr>
              <a:t> </a:t>
            </a:r>
            <a:r>
              <a:rPr lang="en-IN" sz="3200" kern="1200" dirty="0">
                <a:cs typeface="Times New Roman" panose="02020603050405020304" pitchFamily="18" charset="0"/>
              </a:rPr>
              <a:t>P/I</a:t>
            </a:r>
            <a:r>
              <a:rPr lang="en-IN" sz="100" kern="1200" dirty="0">
                <a:cs typeface="Times New Roman" panose="02020603050405020304" pitchFamily="18" charset="0"/>
              </a:rPr>
              <a:t> </a:t>
            </a:r>
            <a:r>
              <a:rPr lang="en-IN" sz="3200" kern="1200" dirty="0">
                <a:cs typeface="Times New Roman" panose="02020603050405020304" pitchFamily="18" charset="0"/>
              </a:rPr>
              <a:t>P and Packet Switching</a:t>
            </a:r>
            <a:endParaRPr lang="en-IN" sz="3200" dirty="0"/>
          </a:p>
        </p:txBody>
      </p:sp>
      <p:pic>
        <p:nvPicPr>
          <p:cNvPr id="7" name="Content Placeholder 6" descr="An illustration explains how T C P, I P, and packet switching are used to route internet messages. For a full description, see Notes. Press F6."/>
          <p:cNvPicPr>
            <a:picLocks noGrp="1" noChangeAspect="1"/>
          </p:cNvPicPr>
          <p:nvPr>
            <p:ph sz="quarter" idx="13"/>
          </p:nvPr>
        </p:nvPicPr>
        <p:blipFill rotWithShape="1">
          <a:blip r:embed="rId1"/>
          <a:srcRect b="8066"/>
          <a:stretch>
            <a:fillRect/>
          </a:stretch>
        </p:blipFill>
        <p:spPr>
          <a:xfrm>
            <a:off x="523905" y="1796958"/>
            <a:ext cx="8096190" cy="39625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kern="1200" dirty="0">
                <a:cs typeface="Times New Roman" panose="02020603050405020304" pitchFamily="18" charset="0"/>
              </a:rPr>
              <a:t>Domain Names, D</a:t>
            </a:r>
            <a:r>
              <a:rPr lang="en-IN" sz="200" kern="1200" dirty="0">
                <a:cs typeface="Times New Roman" panose="02020603050405020304" pitchFamily="18" charset="0"/>
              </a:rPr>
              <a:t> </a:t>
            </a:r>
            <a:r>
              <a:rPr lang="en-IN" kern="1200" dirty="0">
                <a:cs typeface="Times New Roman" panose="02020603050405020304" pitchFamily="18" charset="0"/>
              </a:rPr>
              <a:t>N</a:t>
            </a:r>
            <a:r>
              <a:rPr lang="en-IN" sz="200" kern="1200" dirty="0">
                <a:cs typeface="Times New Roman" panose="02020603050405020304" pitchFamily="18" charset="0"/>
              </a:rPr>
              <a:t> </a:t>
            </a:r>
            <a:r>
              <a:rPr lang="en-IN" kern="1200" dirty="0">
                <a:cs typeface="Times New Roman" panose="02020603050405020304" pitchFamily="18" charset="0"/>
              </a:rPr>
              <a:t>S, and U</a:t>
            </a:r>
            <a:r>
              <a:rPr lang="en-IN" sz="200" kern="1200" dirty="0">
                <a:cs typeface="Times New Roman" panose="02020603050405020304" pitchFamily="18" charset="0"/>
              </a:rPr>
              <a:t> </a:t>
            </a:r>
            <a:r>
              <a:rPr lang="en-IN" kern="1200" dirty="0">
                <a:cs typeface="Times New Roman" panose="02020603050405020304" pitchFamily="18" charset="0"/>
              </a:rPr>
              <a:t>R</a:t>
            </a:r>
            <a:r>
              <a:rPr lang="en-IN" sz="200" kern="1200" dirty="0">
                <a:cs typeface="Times New Roman" panose="02020603050405020304" pitchFamily="18" charset="0"/>
              </a:rPr>
              <a:t> </a:t>
            </a:r>
            <a:r>
              <a:rPr lang="en-IN" kern="1200" dirty="0">
                <a:cs typeface="Times New Roman" panose="02020603050405020304" pitchFamily="18" charset="0"/>
              </a:rPr>
              <a:t>L</a:t>
            </a:r>
            <a:r>
              <a:rPr lang="en-IN" sz="200" kern="1200" dirty="0">
                <a:cs typeface="Times New Roman" panose="02020603050405020304" pitchFamily="18" charset="0"/>
              </a:rPr>
              <a:t> </a:t>
            </a:r>
            <a:r>
              <a:rPr lang="en-IN" kern="1200" dirty="0">
                <a:cs typeface="Times New Roman" panose="02020603050405020304" pitchFamily="18" charset="0"/>
              </a:rPr>
              <a:t>s</a:t>
            </a:r>
            <a:endParaRPr lang="en-IN" dirty="0"/>
          </a:p>
        </p:txBody>
      </p:sp>
      <p:sp>
        <p:nvSpPr>
          <p:cNvPr id="2" name="Content Placeholder 1"/>
          <p:cNvSpPr>
            <a:spLocks noGrp="1"/>
          </p:cNvSpPr>
          <p:nvPr>
            <p:ph sz="quarter" idx="13"/>
          </p:nvPr>
        </p:nvSpPr>
        <p:spPr>
          <a:xfrm>
            <a:off x="457200" y="1552575"/>
            <a:ext cx="8229600" cy="3722811"/>
          </a:xfrm>
        </p:spPr>
        <p:txBody>
          <a:bodyPr/>
          <a:lstStyle/>
          <a:p>
            <a:pPr marL="255905" lvl="0" indent="-255905">
              <a:spcAft>
                <a:spcPct val="0"/>
              </a:spcAft>
              <a:buSzPts val="2400"/>
            </a:pPr>
            <a:r>
              <a:rPr lang="en-US" kern="1200" dirty="0">
                <a:solidFill>
                  <a:srgbClr val="000000"/>
                </a:solidFill>
                <a:latin typeface="Arial" panose="020B0604020202020204" pitchFamily="34" charset="0"/>
              </a:rPr>
              <a:t>Domain name</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address expressed in natural language</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Domain name system (D</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N</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Allows numeric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addresses to be expressed in natural language</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Uniform resource locator (U</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L)</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Address used by web browser to identify location of content on the Web</a:t>
            </a:r>
            <a:endParaRPr lang="en-US" kern="1200" dirty="0">
              <a:solidFill>
                <a:srgbClr val="000000"/>
              </a:solidFill>
              <a:latin typeface="Arial" panose="020B0604020202020204" pitchFamily="34" charset="0"/>
            </a:endParaRPr>
          </a:p>
        </p:txBody>
      </p:sp>
      <p:sp>
        <p:nvSpPr>
          <p:cNvPr id="3" name="Content Placeholder 2"/>
          <p:cNvSpPr>
            <a:spLocks noGrp="1"/>
          </p:cNvSpPr>
          <p:nvPr>
            <p:ph sz="quarter" idx="14"/>
          </p:nvPr>
        </p:nvSpPr>
        <p:spPr>
          <a:xfrm>
            <a:off x="457200" y="5345238"/>
            <a:ext cx="2784764" cy="438046"/>
          </a:xfrm>
        </p:spPr>
        <p:txBody>
          <a:bodyPr tIns="0"/>
          <a:lstStyle/>
          <a:p>
            <a:pPr lvl="1" indent="-284480"/>
            <a:r>
              <a:rPr lang="en-US" kern="1200" dirty="0">
                <a:solidFill>
                  <a:srgbClr val="000000"/>
                </a:solidFill>
                <a:latin typeface="Arial" panose="020B0604020202020204" pitchFamily="34" charset="0"/>
              </a:rPr>
              <a:t>For example:</a:t>
            </a:r>
            <a:endParaRPr lang="en-IN" dirty="0"/>
          </a:p>
        </p:txBody>
      </p:sp>
      <p:sp>
        <p:nvSpPr>
          <p:cNvPr id="8" name="Text Placeholder 7"/>
          <p:cNvSpPr>
            <a:spLocks noGrp="1"/>
          </p:cNvSpPr>
          <p:nvPr>
            <p:ph type="body" sz="quarter" idx="17"/>
          </p:nvPr>
        </p:nvSpPr>
        <p:spPr>
          <a:xfrm>
            <a:off x="3305297" y="5359094"/>
            <a:ext cx="5106389" cy="438046"/>
          </a:xfrm>
        </p:spPr>
        <p:txBody>
          <a:bodyPr lIns="0" tIns="0"/>
          <a:lstStyle/>
          <a:p>
            <a:pPr marL="0" lvl="1" indent="0">
              <a:buNone/>
            </a:pPr>
            <a:r>
              <a:rPr lang="en-US" sz="2400" kern="1200" dirty="0">
                <a:solidFill>
                  <a:srgbClr val="000000"/>
                </a:solidFill>
                <a:latin typeface="+mn-lt"/>
                <a:hlinkClick r:id="rId1" tooltip="http://www.azimuth-interactive.com/"/>
              </a:rPr>
              <a:t>http://www.azimuth-interactive.com/</a:t>
            </a:r>
            <a:endParaRPr lang="en-IN" sz="2400" dirty="0">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Client/Server Computing</a:t>
            </a:r>
            <a:endParaRPr lang="en-IN"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a:solidFill>
                  <a:srgbClr val="000000"/>
                </a:solidFill>
                <a:latin typeface="Arial" panose="020B0604020202020204" pitchFamily="34" charset="0"/>
              </a:rPr>
              <a:t>Powerful desktop computers </a:t>
            </a:r>
            <a:r>
              <a:rPr lang="en-US" kern="1200" dirty="0">
                <a:solidFill>
                  <a:srgbClr val="000000"/>
                </a:solidFill>
                <a:latin typeface="Arial" panose="020B0604020202020204" pitchFamily="34" charset="0"/>
              </a:rPr>
              <a:t>(clients) connected in network with one or more servers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Servers perform common functions for the clients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Storing files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Software applications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Access to printers, and so on</a:t>
            </a:r>
            <a:endParaRPr lang="en-US" kern="1200" dirty="0">
              <a:solidFill>
                <a:srgbClr val="000000"/>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The Mobile Platform</a:t>
            </a:r>
            <a:endParaRPr lang="en-IN" dirty="0"/>
          </a:p>
        </p:txBody>
      </p:sp>
      <p:sp>
        <p:nvSpPr>
          <p:cNvPr id="5" name="Content Placeholder 4"/>
          <p:cNvSpPr>
            <a:spLocks noGrp="1"/>
          </p:cNvSpPr>
          <p:nvPr>
            <p:ph sz="quarter" idx="13"/>
          </p:nvPr>
        </p:nvSpPr>
        <p:spPr>
          <a:xfrm>
            <a:off x="457200" y="1554920"/>
            <a:ext cx="8069283" cy="4663335"/>
          </a:xfrm>
        </p:spPr>
        <p:txBody>
          <a:bodyPr/>
          <a:lstStyle/>
          <a:p>
            <a:pPr marL="255905" lvl="0" indent="-255905">
              <a:spcAft>
                <a:spcPct val="0"/>
              </a:spcAft>
              <a:buSzPts val="2400"/>
            </a:pPr>
            <a:r>
              <a:rPr lang="en-US" kern="1200" dirty="0">
                <a:solidFill>
                  <a:srgbClr val="000000"/>
                </a:solidFill>
                <a:latin typeface="Arial" panose="020B0604020202020204" pitchFamily="34" charset="0"/>
              </a:rPr>
              <a:t>Primary Internet access is now through smartphones and tablets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Smartphones are a disruptive technology</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New processors and operating systems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Over 245 million in U.S. access Internet with mobile phone</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Tablets supplement 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C</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 for mobile situations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Over 170 million in U</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 use Internet with tablets</a:t>
            </a:r>
            <a:endParaRPr lang="en-US" kern="1200" dirty="0">
              <a:solidFill>
                <a:srgbClr val="000000"/>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000" kern="1200" dirty="0">
                <a:cs typeface="Times New Roman" panose="02020603050405020304" pitchFamily="18" charset="0"/>
              </a:rPr>
              <a:t>The Internet “Cloud Computing” Model </a:t>
            </a:r>
            <a:r>
              <a:rPr lang="en-IN" sz="2000" b="0" kern="1200" dirty="0">
                <a:cs typeface="Times New Roman" panose="02020603050405020304" pitchFamily="18" charset="0"/>
              </a:rPr>
              <a:t>(1 of 2)</a:t>
            </a:r>
            <a:endParaRPr lang="en-IN" sz="20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Firms and individuals obtain computing power and software over Internet</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Three types of services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Infrastructure as a service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Software as a service (S</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Platform as a service (P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Public, private, and hybrid clouds</a:t>
            </a:r>
            <a:endParaRPr lang="en-US" kern="1200" dirty="0">
              <a:solidFill>
                <a:srgbClr val="000000"/>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000" kern="1200" dirty="0">
                <a:cs typeface="Times New Roman" panose="02020603050405020304" pitchFamily="18" charset="0"/>
              </a:rPr>
              <a:t>The Internet “Cloud Computing” Model </a:t>
            </a:r>
            <a:r>
              <a:rPr lang="en-IN" sz="2000" b="0" kern="1200" dirty="0">
                <a:cs typeface="Times New Roman" panose="02020603050405020304" pitchFamily="18" charset="0"/>
              </a:rPr>
              <a:t>(2 of 2)</a:t>
            </a:r>
            <a:endParaRPr lang="en-IN" sz="20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Drawbacks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Security risks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Shifts responsibility for storage and control to providers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Radically reduces costs of:</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Building and operating websites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Infrastructure,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 support</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Hardware, software</a:t>
            </a:r>
            <a:endParaRPr lang="en-US" kern="1200" dirty="0">
              <a:solidFill>
                <a:srgbClr val="000000"/>
              </a:solidFill>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kern="1200" dirty="0">
                <a:cs typeface="Times New Roman" panose="02020603050405020304" pitchFamily="18" charset="0"/>
              </a:rPr>
              <a:t>Other Internet Protocols and Utility Programs</a:t>
            </a:r>
            <a:endParaRPr lang="en-IN" sz="3200"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Internet protocols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H</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E-mail: S</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O</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3, 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F</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Telnet, S</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L/T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L</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Utility programs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Ping</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Tracert</a:t>
            </a:r>
            <a:endParaRPr lang="en-US" kern="1200" dirty="0">
              <a:solidFill>
                <a:srgbClr val="000000"/>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Internet </a:t>
            </a:r>
            <a:r>
              <a:rPr lang="en-US" dirty="0"/>
              <a:t>Infrastructure</a:t>
            </a:r>
            <a:endParaRPr lang="en-IN" dirty="0"/>
          </a:p>
        </p:txBody>
      </p:sp>
      <p:sp>
        <p:nvSpPr>
          <p:cNvPr id="5" name="Content Placeholder 4"/>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Internet has been able to grow exponentially without disruption because of:</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Client/server computing model</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Hourglass, layered architecture</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Network Technology Substrate</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Transport Services and Representation Standards</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Middleware Services</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Applications</a:t>
            </a:r>
            <a:endParaRPr lang="en-US" kern="1200" dirty="0">
              <a:solidFill>
                <a:srgbClr val="000000"/>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sz="3200" kern="1200" dirty="0">
                <a:cs typeface="Times New Roman" panose="02020603050405020304" pitchFamily="18" charset="0"/>
              </a:rPr>
              <a:t>Figure 3.10 The Hourglass Model of the Internet</a:t>
            </a:r>
            <a:endParaRPr lang="en-IN" sz="3200" dirty="0"/>
          </a:p>
        </p:txBody>
      </p:sp>
      <p:pic>
        <p:nvPicPr>
          <p:cNvPr id="9" name="Content Placeholder 8" descr="A diagram illustrates the hourglass model of the internet. For a full description, see Notes. Press F6. &#10;"/>
          <p:cNvPicPr>
            <a:picLocks noGrp="1" noChangeAspect="1"/>
          </p:cNvPicPr>
          <p:nvPr>
            <p:ph sz="quarter" idx="13"/>
          </p:nvPr>
        </p:nvPicPr>
        <p:blipFill rotWithShape="1">
          <a:blip r:embed="rId1"/>
          <a:srcRect b="4049"/>
          <a:stretch>
            <a:fillRect/>
          </a:stretch>
        </p:blipFill>
        <p:spPr>
          <a:xfrm>
            <a:off x="2401463" y="1558925"/>
            <a:ext cx="4341074" cy="45924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000" kern="1200" dirty="0">
                <a:cs typeface="Times New Roman" panose="02020603050405020304" pitchFamily="18" charset="0"/>
              </a:rPr>
              <a:t>Figure 3.11 Internet Network Architecture</a:t>
            </a:r>
            <a:endParaRPr lang="en-IN" sz="3000" dirty="0"/>
          </a:p>
        </p:txBody>
      </p:sp>
      <p:pic>
        <p:nvPicPr>
          <p:cNvPr id="7" name="Content Placeholder 6" descr="An illustration depicts internet network architecture. For a full description, see Notes. Press F6."/>
          <p:cNvPicPr>
            <a:picLocks noGrp="1" noChangeAspect="1"/>
          </p:cNvPicPr>
          <p:nvPr>
            <p:ph sz="quarter" idx="13"/>
          </p:nvPr>
        </p:nvPicPr>
        <p:blipFill rotWithShape="1">
          <a:blip r:embed="rId1"/>
          <a:srcRect b="5193"/>
          <a:stretch>
            <a:fillRect/>
          </a:stretch>
        </p:blipFill>
        <p:spPr>
          <a:xfrm>
            <a:off x="1517639" y="1617111"/>
            <a:ext cx="6108721" cy="442742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The Internet Backbone</a:t>
            </a:r>
            <a:endParaRPr lang="en-IN" dirty="0"/>
          </a:p>
        </p:txBody>
      </p:sp>
      <p:sp>
        <p:nvSpPr>
          <p:cNvPr id="5" name="Content Placeholder 4"/>
          <p:cNvSpPr>
            <a:spLocks noGrp="1"/>
          </p:cNvSpPr>
          <p:nvPr>
            <p:ph sz="quarter" idx="13"/>
          </p:nvPr>
        </p:nvSpPr>
        <p:spPr>
          <a:xfrm>
            <a:off x="457201" y="1554920"/>
            <a:ext cx="8021782" cy="4663335"/>
          </a:xfrm>
        </p:spPr>
        <p:txBody>
          <a:bodyPr/>
          <a:lstStyle/>
          <a:p>
            <a:pPr marL="255905" lvl="0" indent="-255905">
              <a:spcAft>
                <a:spcPct val="0"/>
              </a:spcAft>
            </a:pPr>
            <a:r>
              <a:rPr lang="en-US" altLang="en-US" sz="2200" kern="1200" dirty="0">
                <a:solidFill>
                  <a:srgbClr val="000000"/>
                </a:solidFill>
                <a:latin typeface="Arial" panose="020B0604020202020204" pitchFamily="34" charset="0"/>
              </a:rPr>
              <a:t>Comprised of fiber-optic cable: hundreds of glass strands that use light to transmit data</a:t>
            </a:r>
            <a:endParaRPr lang="en-US" altLang="en-US" sz="2200" kern="1200" dirty="0">
              <a:solidFill>
                <a:srgbClr val="000000"/>
              </a:solidFill>
              <a:latin typeface="Arial" panose="020B0604020202020204" pitchFamily="34" charset="0"/>
            </a:endParaRPr>
          </a:p>
          <a:p>
            <a:pPr marL="742950" lvl="1">
              <a:spcAft>
                <a:spcPct val="0"/>
              </a:spcAft>
            </a:pPr>
            <a:r>
              <a:rPr lang="en-US" altLang="en-US" sz="2200" kern="1200" dirty="0">
                <a:solidFill>
                  <a:srgbClr val="000000"/>
                </a:solidFill>
                <a:latin typeface="Arial" panose="020B0604020202020204" pitchFamily="34" charset="0"/>
              </a:rPr>
              <a:t>Faster speeds and greater bandwidth</a:t>
            </a:r>
            <a:endParaRPr lang="en-US" altLang="en-US" sz="2200" kern="1200" dirty="0">
              <a:solidFill>
                <a:srgbClr val="000000"/>
              </a:solidFill>
              <a:latin typeface="Arial" panose="020B0604020202020204" pitchFamily="34" charset="0"/>
            </a:endParaRPr>
          </a:p>
          <a:p>
            <a:pPr marL="742950" lvl="1">
              <a:spcAft>
                <a:spcPct val="0"/>
              </a:spcAft>
            </a:pPr>
            <a:r>
              <a:rPr lang="en-US" altLang="en-US" sz="2200" kern="1200" dirty="0">
                <a:solidFill>
                  <a:srgbClr val="000000"/>
                </a:solidFill>
                <a:latin typeface="Arial" panose="020B0604020202020204" pitchFamily="34" charset="0"/>
              </a:rPr>
              <a:t>Thinner, lighter cables</a:t>
            </a:r>
            <a:endParaRPr lang="en-US" altLang="en-US" sz="2200" kern="1200" dirty="0">
              <a:solidFill>
                <a:srgbClr val="000000"/>
              </a:solidFill>
              <a:latin typeface="Arial" panose="020B0604020202020204" pitchFamily="34" charset="0"/>
            </a:endParaRPr>
          </a:p>
          <a:p>
            <a:pPr marL="742950" lvl="1">
              <a:spcAft>
                <a:spcPct val="0"/>
              </a:spcAft>
            </a:pPr>
            <a:r>
              <a:rPr lang="en-US" altLang="en-US" sz="2200" kern="1200" dirty="0">
                <a:solidFill>
                  <a:srgbClr val="000000"/>
                </a:solidFill>
                <a:latin typeface="Arial" panose="020B0604020202020204" pitchFamily="34" charset="0"/>
              </a:rPr>
              <a:t>Less interference</a:t>
            </a:r>
            <a:endParaRPr lang="en-US" altLang="en-US" sz="2200" kern="1200" dirty="0">
              <a:solidFill>
                <a:srgbClr val="000000"/>
              </a:solidFill>
              <a:latin typeface="Arial" panose="020B0604020202020204" pitchFamily="34" charset="0"/>
            </a:endParaRPr>
          </a:p>
          <a:p>
            <a:pPr marL="742950" lvl="1">
              <a:spcAft>
                <a:spcPct val="0"/>
              </a:spcAft>
            </a:pPr>
            <a:r>
              <a:rPr lang="en-US" altLang="en-US" sz="2200" kern="1200" dirty="0">
                <a:solidFill>
                  <a:srgbClr val="000000"/>
                </a:solidFill>
                <a:latin typeface="Arial" panose="020B0604020202020204" pitchFamily="34" charset="0"/>
              </a:rPr>
              <a:t>Better data security</a:t>
            </a:r>
            <a:endParaRPr lang="en-US" altLang="en-US" sz="2200" kern="1200" dirty="0">
              <a:solidFill>
                <a:srgbClr val="000000"/>
              </a:solidFill>
              <a:latin typeface="Arial" panose="020B0604020202020204" pitchFamily="34" charset="0"/>
            </a:endParaRPr>
          </a:p>
          <a:p>
            <a:pPr marL="255905" indent="-255905">
              <a:spcAft>
                <a:spcPct val="0"/>
              </a:spcAft>
            </a:pPr>
            <a:r>
              <a:rPr lang="en-US" altLang="en-US" sz="2200" kern="1200" dirty="0">
                <a:solidFill>
                  <a:srgbClr val="000000"/>
                </a:solidFill>
                <a:latin typeface="Arial" panose="020B0604020202020204" pitchFamily="34" charset="0"/>
              </a:rPr>
              <a:t>Tier 1 Internet Service Providers (Tier 1 I</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s) or transit I</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sz="2200" kern="1200" dirty="0">
                <a:solidFill>
                  <a:srgbClr val="000000"/>
                </a:solidFill>
                <a:latin typeface="Arial" panose="020B0604020202020204" pitchFamily="34" charset="0"/>
              </a:rPr>
              <a:t>s</a:t>
            </a:r>
            <a:endParaRPr lang="en-US" altLang="en-US" sz="2200" kern="1200" dirty="0">
              <a:solidFill>
                <a:srgbClr val="000000"/>
              </a:solidFill>
              <a:latin typeface="Arial" panose="020B0604020202020204" pitchFamily="34" charset="0"/>
            </a:endParaRPr>
          </a:p>
          <a:p>
            <a:pPr marL="255905" lvl="0" indent="-255905">
              <a:spcAft>
                <a:spcPct val="0"/>
              </a:spcAft>
            </a:pPr>
            <a:r>
              <a:rPr lang="en-US" altLang="en-US" sz="2200" kern="1200" dirty="0">
                <a:solidFill>
                  <a:srgbClr val="000000"/>
                </a:solidFill>
                <a:latin typeface="Arial" panose="020B0604020202020204" pitchFamily="34" charset="0"/>
              </a:rPr>
              <a:t>Numerous private networks physically connected to each other</a:t>
            </a:r>
            <a:endParaRPr lang="en-US" altLang="en-US" sz="2200" kern="1200" dirty="0">
              <a:solidFill>
                <a:srgbClr val="000000"/>
              </a:solidFill>
              <a:latin typeface="Arial" panose="020B0604020202020204" pitchFamily="34" charset="0"/>
            </a:endParaRPr>
          </a:p>
          <a:p>
            <a:pPr marL="255905" lvl="0" indent="-255905">
              <a:spcAft>
                <a:spcPct val="0"/>
              </a:spcAft>
            </a:pPr>
            <a:r>
              <a:rPr lang="en-US" altLang="en-US" sz="2200" kern="1200" dirty="0">
                <a:solidFill>
                  <a:srgbClr val="000000"/>
                </a:solidFill>
                <a:latin typeface="Arial" panose="020B0604020202020204" pitchFamily="34" charset="0"/>
              </a:rPr>
              <a:t>Undersea fiber optics, satellite links</a:t>
            </a:r>
            <a:endParaRPr lang="en-US" altLang="en-US" sz="2200" kern="1200" dirty="0">
              <a:solidFill>
                <a:srgbClr val="000000"/>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kern="1200" dirty="0">
                <a:cs typeface="Times New Roman" panose="02020603050405020304" pitchFamily="18" charset="0"/>
              </a:rPr>
              <a:t>Internet Exchange Points (I</a:t>
            </a:r>
            <a:r>
              <a:rPr lang="en-US" sz="100" kern="1200" dirty="0">
                <a:cs typeface="Times New Roman" panose="02020603050405020304" pitchFamily="18" charset="0"/>
              </a:rPr>
              <a:t> </a:t>
            </a:r>
            <a:r>
              <a:rPr lang="en-US" kern="1200" dirty="0">
                <a:cs typeface="Times New Roman" panose="02020603050405020304" pitchFamily="18" charset="0"/>
              </a:rPr>
              <a:t>X</a:t>
            </a:r>
            <a:r>
              <a:rPr lang="en-US" sz="100" kern="1200" dirty="0">
                <a:cs typeface="Times New Roman" panose="02020603050405020304" pitchFamily="18" charset="0"/>
              </a:rPr>
              <a:t> </a:t>
            </a:r>
            <a:r>
              <a:rPr lang="en-US" kern="1200" dirty="0">
                <a:cs typeface="Times New Roman" panose="02020603050405020304" pitchFamily="18" charset="0"/>
              </a:rPr>
              <a:t>P</a:t>
            </a:r>
            <a:r>
              <a:rPr lang="en-US" sz="100" kern="1200" dirty="0">
                <a:cs typeface="Times New Roman" panose="02020603050405020304" pitchFamily="18" charset="0"/>
              </a:rPr>
              <a:t> </a:t>
            </a:r>
            <a:r>
              <a:rPr lang="en-US" kern="1200" dirty="0">
                <a:cs typeface="Times New Roman" panose="02020603050405020304" pitchFamily="18" charset="0"/>
              </a:rPr>
              <a:t>s)</a:t>
            </a:r>
            <a:endParaRPr lang="en-IN" dirty="0"/>
          </a:p>
        </p:txBody>
      </p:sp>
      <p:sp>
        <p:nvSpPr>
          <p:cNvPr id="5" name="Content Placeholder 4"/>
          <p:cNvSpPr>
            <a:spLocks noGrp="1"/>
          </p:cNvSpPr>
          <p:nvPr>
            <p:ph sz="quarter" idx="13"/>
          </p:nvPr>
        </p:nvSpPr>
        <p:spPr>
          <a:xfrm>
            <a:off x="457201" y="1554920"/>
            <a:ext cx="8021782" cy="4663335"/>
          </a:xfrm>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Regional hubs where Tier 1 I</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 physically connect with one another and with regional Tier 2 I</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Tier 2 I</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 provide Tier 3 I</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 with Internet access.</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Originally called Network Access Points (N</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A</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 or Metropolitan Area Exchanges (M</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A</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E</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Tier 3 Internet Service Providers</a:t>
            </a:r>
            <a:endParaRPr lang="en-IN" dirty="0"/>
          </a:p>
        </p:txBody>
      </p:sp>
      <p:sp>
        <p:nvSpPr>
          <p:cNvPr id="2" name="Content Placeholder 1"/>
          <p:cNvSpPr>
            <a:spLocks noGrp="1"/>
          </p:cNvSpPr>
          <p:nvPr>
            <p:ph sz="quarter" idx="13"/>
          </p:nvPr>
        </p:nvSpPr>
        <p:spPr/>
        <p:txBody>
          <a:bodyPr/>
          <a:lstStyle/>
          <a:p>
            <a:pPr lvl="0"/>
            <a:r>
              <a:rPr lang="en-US" altLang="en-US" sz="2200" dirty="0"/>
              <a:t>Retail providers</a:t>
            </a:r>
            <a:endParaRPr lang="en-US" altLang="en-US" sz="2200" dirty="0"/>
          </a:p>
          <a:p>
            <a:pPr lvl="1"/>
            <a:r>
              <a:rPr lang="en-US" altLang="en-US" sz="2200" dirty="0"/>
              <a:t>Lease Internet access to homeowners, small businesses</a:t>
            </a:r>
            <a:endParaRPr lang="en-US" altLang="en-US" sz="2200" dirty="0"/>
          </a:p>
          <a:p>
            <a:pPr lvl="1"/>
            <a:r>
              <a:rPr lang="en-US" altLang="en-US" sz="2200" dirty="0"/>
              <a:t>Large providers: Comcast, </a:t>
            </a:r>
            <a:r>
              <a:rPr lang="en-US" sz="2200" dirty="0"/>
              <a:t>Charter Spectrum, A</a:t>
            </a:r>
            <a:r>
              <a:rPr lang="en-US" sz="100" dirty="0"/>
              <a:t> </a:t>
            </a:r>
            <a:r>
              <a:rPr lang="en-US" sz="2200" dirty="0"/>
              <a:t>T&amp;T, Verizon, Altice (Optimum)</a:t>
            </a:r>
            <a:endParaRPr lang="en-US" sz="2200" dirty="0"/>
          </a:p>
          <a:p>
            <a:pPr lvl="1"/>
            <a:r>
              <a:rPr lang="en-US" altLang="en-US" sz="2200" dirty="0"/>
              <a:t>Smaller local providers</a:t>
            </a:r>
            <a:endParaRPr lang="en-US" altLang="en-US" sz="2200" dirty="0"/>
          </a:p>
          <a:p>
            <a:pPr lvl="0"/>
            <a:r>
              <a:rPr lang="en-US" altLang="en-US" sz="2200" dirty="0"/>
              <a:t>Services</a:t>
            </a:r>
            <a:endParaRPr lang="en-US" altLang="en-US" sz="2200" dirty="0"/>
          </a:p>
          <a:p>
            <a:pPr lvl="1"/>
            <a:r>
              <a:rPr lang="en-US" altLang="en-US" sz="2200" dirty="0"/>
              <a:t>Narrowband</a:t>
            </a:r>
            <a:endParaRPr lang="en-US" altLang="en-US" sz="2200" dirty="0"/>
          </a:p>
          <a:p>
            <a:pPr lvl="1"/>
            <a:r>
              <a:rPr lang="en-US" altLang="en-US" sz="2200" dirty="0"/>
              <a:t>Broadband</a:t>
            </a:r>
            <a:endParaRPr lang="en-US" altLang="en-US" sz="2200" dirty="0"/>
          </a:p>
          <a:p>
            <a:pPr lvl="1"/>
            <a:r>
              <a:rPr lang="en-US" altLang="en-US" sz="2200" dirty="0"/>
              <a:t>Digital subscriber line (D</a:t>
            </a:r>
            <a:r>
              <a:rPr lang="en-US" altLang="en-US" sz="100" dirty="0"/>
              <a:t> </a:t>
            </a:r>
            <a:r>
              <a:rPr lang="en-US" altLang="en-US" sz="2200" dirty="0"/>
              <a:t>S</a:t>
            </a:r>
            <a:r>
              <a:rPr lang="en-US" altLang="en-US" sz="100" dirty="0"/>
              <a:t> </a:t>
            </a:r>
            <a:r>
              <a:rPr lang="en-US" altLang="en-US" sz="2200" dirty="0"/>
              <a:t>L)</a:t>
            </a:r>
            <a:endParaRPr lang="en-US" altLang="en-US" sz="2200" dirty="0"/>
          </a:p>
          <a:p>
            <a:pPr lvl="1"/>
            <a:r>
              <a:rPr lang="en-US" altLang="en-US" sz="2200" dirty="0"/>
              <a:t>Cable Internet</a:t>
            </a:r>
            <a:endParaRPr lang="en-US" altLang="en-US" sz="2200" dirty="0"/>
          </a:p>
          <a:p>
            <a:pPr lvl="1"/>
            <a:r>
              <a:rPr lang="en-US" altLang="en-US" sz="2200" dirty="0"/>
              <a:t>Satellite Internet</a:t>
            </a:r>
            <a:endParaRPr lang="en-US" alt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Campus/Corporate Area Networks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Local area networks operating within single organization, such as N</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Y</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U or Microsoft Corporation</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Lease Internet access directly from regional and national carriers</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kern="1200" dirty="0">
                <a:cs typeface="Times New Roman" panose="02020603050405020304" pitchFamily="18" charset="0"/>
              </a:rPr>
              <a:t>Mobile Internet Access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Two basic types of wireless Internet access:</a:t>
            </a:r>
            <a:endParaRPr lang="en-US" altLang="en-US" kern="1200" dirty="0">
              <a:solidFill>
                <a:srgbClr val="000000"/>
              </a:solidFill>
              <a:latin typeface="Arial" panose="020B0604020202020204" pitchFamily="34" charset="0"/>
            </a:endParaRPr>
          </a:p>
          <a:p>
            <a:pPr marL="741680" lvl="1">
              <a:spcAft>
                <a:spcPct val="0"/>
              </a:spcAft>
              <a:buSzPts val="2400"/>
            </a:pPr>
            <a:r>
              <a:rPr lang="en-US" altLang="en-US" kern="1200" dirty="0">
                <a:solidFill>
                  <a:srgbClr val="000000"/>
                </a:solidFill>
                <a:latin typeface="Arial" panose="020B0604020202020204" pitchFamily="34" charset="0"/>
              </a:rPr>
              <a:t>Telephone-based (mobile phones, smartphones)</a:t>
            </a:r>
            <a:endParaRPr lang="en-US" altLang="en-US" kern="1200" dirty="0">
              <a:solidFill>
                <a:srgbClr val="000000"/>
              </a:solidFill>
              <a:latin typeface="Arial" panose="020B0604020202020204" pitchFamily="34" charset="0"/>
            </a:endParaRPr>
          </a:p>
          <a:p>
            <a:pPr marL="741680" lvl="1">
              <a:spcAft>
                <a:spcPct val="0"/>
              </a:spcAft>
              <a:buSzPts val="2400"/>
            </a:pPr>
            <a:r>
              <a:rPr lang="en-US" altLang="en-US" kern="1200" dirty="0">
                <a:solidFill>
                  <a:srgbClr val="000000"/>
                </a:solidFill>
                <a:latin typeface="Arial" panose="020B0604020202020204" pitchFamily="34" charset="0"/>
              </a:rPr>
              <a:t>Computer network-based (wireless local area network-based)</a:t>
            </a:r>
            <a:endParaRPr lang="en-US" altLang="en-US" kern="1200" dirty="0">
              <a:solidFill>
                <a:srgbClr val="000000"/>
              </a:solidFill>
              <a:latin typeface="Arial" panose="020B0604020202020204" pitchFamily="34" charset="0"/>
            </a:endParaRPr>
          </a:p>
          <a:p>
            <a:pPr marL="254000">
              <a:spcAft>
                <a:spcPct val="0"/>
              </a:spcAft>
              <a:buSzPts val="2400"/>
            </a:pPr>
            <a:r>
              <a:rPr lang="en-US" altLang="en-US" kern="1200" dirty="0">
                <a:solidFill>
                  <a:srgbClr val="000000"/>
                </a:solidFill>
                <a:latin typeface="Arial" panose="020B0604020202020204" pitchFamily="34" charset="0"/>
              </a:rPr>
              <a:t>Telephone-based wireless Internet access</a:t>
            </a:r>
            <a:endParaRPr lang="en-US" altLang="en-US" kern="1200" dirty="0">
              <a:solidFill>
                <a:srgbClr val="000000"/>
              </a:solidFill>
              <a:latin typeface="Arial" panose="020B0604020202020204" pitchFamily="34" charset="0"/>
            </a:endParaRPr>
          </a:p>
          <a:p>
            <a:pPr marL="741680" lvl="1">
              <a:spcAft>
                <a:spcPct val="0"/>
              </a:spcAft>
              <a:buSzPts val="2400"/>
            </a:pPr>
            <a:r>
              <a:rPr lang="en-US" altLang="en-US" kern="1200" dirty="0">
                <a:solidFill>
                  <a:srgbClr val="000000"/>
                </a:solidFill>
                <a:latin typeface="Arial" panose="020B0604020202020204" pitchFamily="34" charset="0"/>
              </a:rPr>
              <a:t>Currently based on 3G and 4G technologies</a:t>
            </a:r>
            <a:endParaRPr lang="en-US" altLang="en-US" kern="1200" dirty="0">
              <a:solidFill>
                <a:srgbClr val="000000"/>
              </a:solidFill>
              <a:latin typeface="Arial" panose="020B0604020202020204" pitchFamily="34" charset="0"/>
            </a:endParaRPr>
          </a:p>
          <a:p>
            <a:pPr marL="741680" lvl="1">
              <a:spcAft>
                <a:spcPct val="0"/>
              </a:spcAft>
              <a:buSzPts val="2400"/>
            </a:pPr>
            <a:r>
              <a:rPr lang="en-US" altLang="en-US" kern="1200" dirty="0">
                <a:solidFill>
                  <a:srgbClr val="000000"/>
                </a:solidFill>
                <a:latin typeface="Arial" panose="020B0604020202020204" pitchFamily="34" charset="0"/>
              </a:rPr>
              <a:t>5G will provide higher bandwidth with speeds reaching 10 G</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b</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 or more</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841673" cy="1097279"/>
          </a:xfrm>
        </p:spPr>
        <p:txBody>
          <a:bodyPr/>
          <a:lstStyle/>
          <a:p>
            <a:r>
              <a:rPr lang="en-IN" sz="3200" kern="1200" dirty="0">
                <a:cs typeface="Times New Roman" panose="02020603050405020304" pitchFamily="18" charset="0"/>
              </a:rPr>
              <a:t>Wireless Local Area Network (W</a:t>
            </a:r>
            <a:r>
              <a:rPr lang="en-IN" sz="100" kern="1200" dirty="0">
                <a:cs typeface="Times New Roman" panose="02020603050405020304" pitchFamily="18" charset="0"/>
              </a:rPr>
              <a:t> </a:t>
            </a:r>
            <a:r>
              <a:rPr lang="en-IN" sz="3200" kern="1200" dirty="0">
                <a:cs typeface="Times New Roman" panose="02020603050405020304" pitchFamily="18" charset="0"/>
              </a:rPr>
              <a:t>L</a:t>
            </a:r>
            <a:r>
              <a:rPr lang="en-IN" sz="100" kern="1200" dirty="0">
                <a:cs typeface="Times New Roman" panose="02020603050405020304" pitchFamily="18" charset="0"/>
              </a:rPr>
              <a:t> </a:t>
            </a:r>
            <a:r>
              <a:rPr lang="en-IN" sz="3200" kern="1200" dirty="0">
                <a:cs typeface="Times New Roman" panose="02020603050405020304" pitchFamily="18" charset="0"/>
              </a:rPr>
              <a:t>A</a:t>
            </a:r>
            <a:r>
              <a:rPr lang="en-IN" sz="100" kern="1200" dirty="0">
                <a:cs typeface="Times New Roman" panose="02020603050405020304" pitchFamily="18" charset="0"/>
              </a:rPr>
              <a:t> </a:t>
            </a:r>
            <a:r>
              <a:rPr lang="en-IN" sz="3200" kern="1200" dirty="0">
                <a:cs typeface="Times New Roman" panose="02020603050405020304" pitchFamily="18" charset="0"/>
              </a:rPr>
              <a:t>N) -Based Internet Access</a:t>
            </a:r>
            <a:endParaRPr lang="en-IN" sz="3200"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rPr>
              <a:t>Wi-Fi</a:t>
            </a:r>
            <a:r>
              <a:rPr lang="en-US" dirty="0"/>
              <a:t> (various 802.11 standards)</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High-speed, fixed broadband wireless L</a:t>
            </a:r>
            <a:r>
              <a:rPr lang="en-US" altLang="en-US" sz="100" kern="1200" dirty="0">
                <a:solidFill>
                  <a:srgbClr val="000000"/>
                </a:solidFill>
              </a:rPr>
              <a:t> </a:t>
            </a:r>
            <a:r>
              <a:rPr lang="en-US" altLang="en-US" kern="1200" dirty="0">
                <a:solidFill>
                  <a:srgbClr val="000000"/>
                </a:solidFill>
              </a:rPr>
              <a:t>A</a:t>
            </a:r>
            <a:r>
              <a:rPr lang="en-US" altLang="en-US" sz="100" kern="1200" dirty="0">
                <a:solidFill>
                  <a:srgbClr val="000000"/>
                </a:solidFill>
              </a:rPr>
              <a:t> </a:t>
            </a:r>
            <a:r>
              <a:rPr lang="en-US" altLang="en-US" kern="1200" dirty="0">
                <a:solidFill>
                  <a:srgbClr val="000000"/>
                </a:solidFill>
              </a:rPr>
              <a:t>N (W</a:t>
            </a:r>
            <a:r>
              <a:rPr lang="en-US" altLang="en-US" sz="100" kern="1200" dirty="0">
                <a:solidFill>
                  <a:srgbClr val="000000"/>
                </a:solidFill>
              </a:rPr>
              <a:t> </a:t>
            </a:r>
            <a:r>
              <a:rPr lang="en-US" altLang="en-US" kern="1200" dirty="0">
                <a:solidFill>
                  <a:srgbClr val="000000"/>
                </a:solidFill>
              </a:rPr>
              <a:t>L</a:t>
            </a:r>
            <a:r>
              <a:rPr lang="en-US" altLang="en-US" sz="100" kern="1200" dirty="0">
                <a:solidFill>
                  <a:srgbClr val="000000"/>
                </a:solidFill>
              </a:rPr>
              <a:t> </a:t>
            </a:r>
            <a:r>
              <a:rPr lang="en-US" altLang="en-US" kern="1200" dirty="0">
                <a:solidFill>
                  <a:srgbClr val="000000"/>
                </a:solidFill>
              </a:rPr>
              <a:t>A</a:t>
            </a:r>
            <a:r>
              <a:rPr lang="en-US" altLang="en-US" sz="100" kern="1200" dirty="0">
                <a:solidFill>
                  <a:srgbClr val="000000"/>
                </a:solidFill>
              </a:rPr>
              <a:t> </a:t>
            </a:r>
            <a:r>
              <a:rPr lang="en-US" altLang="en-US" kern="1200" dirty="0">
                <a:solidFill>
                  <a:srgbClr val="000000"/>
                </a:solidFill>
              </a:rPr>
              <a:t>N)</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Wireless access point (</a:t>
            </a:r>
            <a:r>
              <a:rPr lang="ja-JP" altLang="en-US" kern="1200" dirty="0">
                <a:solidFill>
                  <a:srgbClr val="000000"/>
                </a:solidFill>
              </a:rPr>
              <a:t>“</a:t>
            </a:r>
            <a:r>
              <a:rPr lang="en-US" altLang="ja-JP" kern="1200" dirty="0">
                <a:solidFill>
                  <a:srgbClr val="000000"/>
                </a:solidFill>
              </a:rPr>
              <a:t>hot spots</a:t>
            </a:r>
            <a:r>
              <a:rPr lang="ja-JP" altLang="en-US" kern="1200" dirty="0">
                <a:solidFill>
                  <a:srgbClr val="000000"/>
                </a:solidFill>
              </a:rPr>
              <a:t>”</a:t>
            </a:r>
            <a:r>
              <a:rPr lang="en-US" altLang="ja-JP" kern="1200" dirty="0">
                <a:solidFill>
                  <a:srgbClr val="000000"/>
                </a:solidFill>
              </a:rPr>
              <a:t>)</a:t>
            </a:r>
            <a:endParaRPr lang="en-US" altLang="ja-JP" kern="1200" dirty="0">
              <a:solidFill>
                <a:srgbClr val="000000"/>
              </a:solidFill>
            </a:endParaRPr>
          </a:p>
          <a:p>
            <a:pPr marL="741680" lvl="1" indent="-284480">
              <a:spcAft>
                <a:spcPct val="0"/>
              </a:spcAft>
              <a:buSzPts val="2400"/>
            </a:pPr>
            <a:r>
              <a:rPr lang="en-US" altLang="en-US" kern="1200" dirty="0">
                <a:solidFill>
                  <a:srgbClr val="000000"/>
                </a:solidFill>
              </a:rPr>
              <a:t>Limited range but inexpensive</a:t>
            </a:r>
            <a:endParaRPr lang="en-US" altLang="en-US" kern="1200" dirty="0">
              <a:solidFill>
                <a:srgbClr val="000000"/>
              </a:solidFill>
            </a:endParaRPr>
          </a:p>
          <a:p>
            <a:pPr marL="255905" lvl="0" indent="-255905">
              <a:spcAft>
                <a:spcPct val="0"/>
              </a:spcAft>
              <a:buSzPts val="2400"/>
            </a:pPr>
            <a:r>
              <a:rPr lang="en-US" altLang="en-US" kern="1200" dirty="0">
                <a:solidFill>
                  <a:srgbClr val="000000"/>
                </a:solidFill>
              </a:rPr>
              <a:t>WiMax</a:t>
            </a:r>
            <a:endParaRPr lang="en-US" altLang="en-US" kern="1200" dirty="0">
              <a:solidFill>
                <a:srgbClr val="000000"/>
              </a:solidFill>
            </a:endParaRPr>
          </a:p>
          <a:p>
            <a:pPr marL="255905" lvl="0" indent="-255905">
              <a:spcAft>
                <a:spcPct val="0"/>
              </a:spcAft>
              <a:buSzPts val="2400"/>
            </a:pPr>
            <a:r>
              <a:rPr lang="en-US" altLang="en-US" kern="1200" dirty="0">
                <a:solidFill>
                  <a:srgbClr val="000000"/>
                </a:solidFill>
              </a:rPr>
              <a:t>Bluetooth</a:t>
            </a:r>
            <a:endParaRPr lang="en-US" altLang="en-US" kern="1200"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Figure 3.13 Wi-Fi Networks</a:t>
            </a:r>
            <a:endParaRPr lang="en-IN" dirty="0"/>
          </a:p>
        </p:txBody>
      </p:sp>
      <p:pic>
        <p:nvPicPr>
          <p:cNvPr id="7" name="Content Placeholder 6" descr="An illustration depicts WI FI networks. For a full description, see Notes. Press F6."/>
          <p:cNvPicPr>
            <a:picLocks noGrp="1" noChangeAspect="1"/>
          </p:cNvPicPr>
          <p:nvPr>
            <p:ph sz="quarter" idx="13"/>
          </p:nvPr>
        </p:nvPicPr>
        <p:blipFill rotWithShape="1">
          <a:blip r:embed="rId1"/>
          <a:srcRect b="6080"/>
          <a:stretch>
            <a:fillRect/>
          </a:stretch>
        </p:blipFill>
        <p:spPr>
          <a:xfrm>
            <a:off x="893525" y="1602275"/>
            <a:ext cx="7356949" cy="44705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kern="1200" dirty="0">
                <a:cs typeface="Times New Roman" panose="02020603050405020304" pitchFamily="18" charset="0"/>
              </a:rPr>
              <a:t>Other Innovative Internet Access Technologies: Drones, Balloons, and White Space</a:t>
            </a:r>
            <a:endParaRPr lang="en-IN" sz="2800"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rPr>
              <a:t>Google: Project Loon</a:t>
            </a:r>
            <a:endParaRPr lang="en-US" kern="1200" dirty="0">
              <a:solidFill>
                <a:srgbClr val="000000"/>
              </a:solidFill>
            </a:endParaRPr>
          </a:p>
          <a:p>
            <a:pPr marL="255905" lvl="0" indent="-255905">
              <a:spcAft>
                <a:spcPct val="0"/>
              </a:spcAft>
              <a:buSzPts val="2400"/>
            </a:pPr>
            <a:r>
              <a:rPr lang="en-US" kern="1200" dirty="0">
                <a:solidFill>
                  <a:srgbClr val="000000"/>
                </a:solidFill>
              </a:rPr>
              <a:t>Facebook: Facebook Connectivity Lab/Acquila drone</a:t>
            </a:r>
            <a:endParaRPr lang="en-US" kern="1200" dirty="0">
              <a:solidFill>
                <a:srgbClr val="000000"/>
              </a:solidFill>
            </a:endParaRPr>
          </a:p>
          <a:p>
            <a:pPr marL="255905" lvl="0" indent="-255905">
              <a:spcAft>
                <a:spcPct val="0"/>
              </a:spcAft>
              <a:buSzPts val="2400"/>
            </a:pPr>
            <a:r>
              <a:rPr lang="en-US" kern="1200" dirty="0">
                <a:solidFill>
                  <a:srgbClr val="000000"/>
                </a:solidFill>
              </a:rPr>
              <a:t>Microsoft: </a:t>
            </a:r>
            <a:r>
              <a:rPr lang="en-US" dirty="0"/>
              <a:t>Airband Initiative (white spaces)</a:t>
            </a:r>
            <a:endParaRPr lang="en-US" kern="1200" dirty="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The Internet</a:t>
            </a:r>
            <a:r>
              <a:rPr lang="en-US" dirty="0"/>
              <a:t> of Things (I</a:t>
            </a:r>
            <a:r>
              <a:rPr lang="en-US" sz="100" dirty="0"/>
              <a:t> </a:t>
            </a:r>
            <a:r>
              <a:rPr lang="en-US" dirty="0"/>
              <a:t>O</a:t>
            </a:r>
            <a:r>
              <a:rPr lang="en-US" sz="100" dirty="0"/>
              <a:t> </a:t>
            </a:r>
            <a:r>
              <a:rPr lang="en-US" dirty="0"/>
              <a:t>T)</a:t>
            </a:r>
            <a:endParaRPr lang="en-IN" dirty="0"/>
          </a:p>
        </p:txBody>
      </p:sp>
      <p:sp>
        <p:nvSpPr>
          <p:cNvPr id="3" name="Content Placeholder 2"/>
          <p:cNvSpPr>
            <a:spLocks noGrp="1"/>
          </p:cNvSpPr>
          <p:nvPr>
            <p:ph sz="quarter" idx="13"/>
          </p:nvPr>
        </p:nvSpPr>
        <p:spPr/>
        <p:txBody>
          <a:bodyPr/>
          <a:lstStyle/>
          <a:p>
            <a:pPr marL="254000">
              <a:spcAft>
                <a:spcPct val="0"/>
              </a:spcAft>
              <a:buSzPts val="2400"/>
            </a:pPr>
            <a:r>
              <a:rPr lang="en-US" altLang="en-US" kern="1200" dirty="0">
                <a:solidFill>
                  <a:srgbClr val="000000"/>
                </a:solidFill>
              </a:rPr>
              <a:t>Objects connected via </a:t>
            </a:r>
            <a:r>
              <a:rPr lang="pt-BR" altLang="en-US" kern="1200" dirty="0">
                <a:solidFill>
                  <a:srgbClr val="000000"/>
                </a:solidFill>
              </a:rPr>
              <a:t>sensors/R</a:t>
            </a:r>
            <a:r>
              <a:rPr lang="pt-BR" altLang="en-US" sz="100" kern="1200" dirty="0">
                <a:solidFill>
                  <a:srgbClr val="000000"/>
                </a:solidFill>
              </a:rPr>
              <a:t> </a:t>
            </a:r>
            <a:r>
              <a:rPr lang="pt-BR" altLang="en-US" kern="1200" dirty="0">
                <a:solidFill>
                  <a:srgbClr val="000000"/>
                </a:solidFill>
              </a:rPr>
              <a:t>F</a:t>
            </a:r>
            <a:r>
              <a:rPr lang="pt-BR" altLang="en-US" sz="100" kern="1200" dirty="0">
                <a:solidFill>
                  <a:srgbClr val="000000"/>
                </a:solidFill>
              </a:rPr>
              <a:t> </a:t>
            </a:r>
            <a:r>
              <a:rPr lang="pt-BR" altLang="en-US" kern="1200" dirty="0">
                <a:solidFill>
                  <a:srgbClr val="000000"/>
                </a:solidFill>
              </a:rPr>
              <a:t>I</a:t>
            </a:r>
            <a:r>
              <a:rPr lang="pt-BR" altLang="en-US" sz="100" kern="1200" dirty="0">
                <a:solidFill>
                  <a:srgbClr val="000000"/>
                </a:solidFill>
              </a:rPr>
              <a:t> </a:t>
            </a:r>
            <a:r>
              <a:rPr lang="pt-BR" altLang="en-US" kern="1200" dirty="0">
                <a:solidFill>
                  <a:srgbClr val="000000"/>
                </a:solidFill>
              </a:rPr>
              <a:t>D </a:t>
            </a:r>
            <a:r>
              <a:rPr lang="en-US" altLang="en-US" kern="1200" dirty="0">
                <a:solidFill>
                  <a:srgbClr val="000000"/>
                </a:solidFill>
              </a:rPr>
              <a:t>to the Internet</a:t>
            </a:r>
            <a:endParaRPr lang="en-US" altLang="en-US" kern="1200" dirty="0">
              <a:solidFill>
                <a:srgbClr val="000000"/>
              </a:solidFill>
            </a:endParaRPr>
          </a:p>
          <a:p>
            <a:pPr marL="254000">
              <a:spcAft>
                <a:spcPct val="0"/>
              </a:spcAft>
              <a:buSzPts val="2400"/>
            </a:pPr>
            <a:r>
              <a:rPr lang="en-AU" altLang="ja-JP" kern="1200" dirty="0">
                <a:solidFill>
                  <a:srgbClr val="000000"/>
                </a:solidFill>
              </a:rPr>
              <a:t>“</a:t>
            </a:r>
            <a:r>
              <a:rPr lang="en-US" altLang="ja-JP" kern="1200" dirty="0">
                <a:solidFill>
                  <a:srgbClr val="000000"/>
                </a:solidFill>
              </a:rPr>
              <a:t>Smart things</a:t>
            </a:r>
            <a:r>
              <a:rPr lang="en-AU" altLang="ja-JP" kern="1200" dirty="0">
                <a:solidFill>
                  <a:srgbClr val="000000"/>
                </a:solidFill>
              </a:rPr>
              <a:t>”</a:t>
            </a:r>
            <a:endParaRPr lang="en-US" altLang="ja-JP" kern="1200" dirty="0">
              <a:solidFill>
                <a:srgbClr val="000000"/>
              </a:solidFill>
            </a:endParaRPr>
          </a:p>
          <a:p>
            <a:pPr marL="254000">
              <a:spcAft>
                <a:spcPct val="0"/>
              </a:spcAft>
              <a:buSzPts val="2400"/>
            </a:pPr>
            <a:r>
              <a:rPr lang="en-US" altLang="en-US" kern="1200" dirty="0">
                <a:solidFill>
                  <a:srgbClr val="000000"/>
                </a:solidFill>
              </a:rPr>
              <a:t>Interoperability issues and standards</a:t>
            </a:r>
            <a:endParaRPr lang="en-US" altLang="en-US" kern="1200" dirty="0">
              <a:solidFill>
                <a:srgbClr val="000000"/>
              </a:solidFill>
            </a:endParaRPr>
          </a:p>
          <a:p>
            <a:pPr marL="254000">
              <a:spcAft>
                <a:spcPct val="0"/>
              </a:spcAft>
              <a:buSzPts val="2400"/>
            </a:pPr>
            <a:r>
              <a:rPr lang="en-US" altLang="en-US" kern="1200" dirty="0">
                <a:solidFill>
                  <a:srgbClr val="000000"/>
                </a:solidFill>
              </a:rPr>
              <a:t>Security and privacy concerns</a:t>
            </a:r>
            <a:endParaRPr lang="en-US" altLang="en-US" kern="1200" dirty="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800" kern="1200" dirty="0">
                <a:cs typeface="Times New Roman" panose="02020603050405020304" pitchFamily="18" charset="0"/>
              </a:rPr>
              <a:t>Insight on Business: The Apple Watch: Bringing the Internet of Things to Your Wrist</a:t>
            </a:r>
            <a:endParaRPr lang="en-IN" sz="2800"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Class Discussion</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Are you or anyone you know using the Apple Watch? If not, why not? If so, what apps do you use most?</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What are the potential benefits of wearable technology? Are there any disadvantages?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What effects will features like the Apple Pay button and Taptic Engine have?</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Are there any privacy issues raised by wearable technology?</a:t>
            </a:r>
            <a:endParaRPr lang="en-US" kern="1200" dirty="0">
              <a:solidFill>
                <a:srgbClr val="000000"/>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Who Governs the Internet?</a:t>
            </a:r>
            <a:endParaRPr lang="en-IN" dirty="0"/>
          </a:p>
        </p:txBody>
      </p:sp>
      <p:sp>
        <p:nvSpPr>
          <p:cNvPr id="3" name="Content Placeholder 2"/>
          <p:cNvSpPr>
            <a:spLocks noGrp="1"/>
          </p:cNvSpPr>
          <p:nvPr>
            <p:ph sz="quarter" idx="13"/>
          </p:nvPr>
        </p:nvSpPr>
        <p:spPr/>
        <p:txBody>
          <a:bodyPr/>
          <a:lstStyle/>
          <a:p>
            <a:pPr marL="255905" lvl="0" indent="-255905">
              <a:spcAft>
                <a:spcPct val="0"/>
              </a:spcAft>
            </a:pPr>
            <a:r>
              <a:rPr lang="en-US" sz="2000" kern="1200" dirty="0">
                <a:solidFill>
                  <a:srgbClr val="000000"/>
                </a:solidFill>
                <a:latin typeface="Arial" panose="020B0604020202020204" pitchFamily="34" charset="0"/>
              </a:rPr>
              <a:t>Organizations that influence the Internet and monitor its operations include:</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Corporation for Assigned Names and Numbers (</a:t>
            </a:r>
            <a:r>
              <a:rPr lang="pt-BR" sz="2000" kern="1200" dirty="0">
                <a:solidFill>
                  <a:srgbClr val="000000"/>
                </a:solidFill>
                <a:latin typeface="Arial" panose="020B0604020202020204" pitchFamily="34" charset="0"/>
              </a:rPr>
              <a:t>I</a:t>
            </a:r>
            <a:r>
              <a:rPr lang="pt-BR" sz="100" kern="1200" dirty="0">
                <a:solidFill>
                  <a:srgbClr val="000000"/>
                </a:solidFill>
                <a:latin typeface="Arial" panose="020B0604020202020204" pitchFamily="34" charset="0"/>
              </a:rPr>
              <a:t> </a:t>
            </a:r>
            <a:r>
              <a:rPr lang="pt-BR" sz="2000" kern="1200" dirty="0">
                <a:solidFill>
                  <a:srgbClr val="000000"/>
                </a:solidFill>
                <a:latin typeface="Arial" panose="020B0604020202020204" pitchFamily="34" charset="0"/>
              </a:rPr>
              <a:t>C</a:t>
            </a:r>
            <a:r>
              <a:rPr lang="pt-BR" sz="100" kern="1200" dirty="0">
                <a:solidFill>
                  <a:srgbClr val="000000"/>
                </a:solidFill>
                <a:latin typeface="Arial" panose="020B0604020202020204" pitchFamily="34" charset="0"/>
              </a:rPr>
              <a:t> </a:t>
            </a:r>
            <a:r>
              <a:rPr lang="pt-BR" sz="2000" kern="1200" dirty="0">
                <a:solidFill>
                  <a:srgbClr val="000000"/>
                </a:solidFill>
                <a:latin typeface="Arial" panose="020B0604020202020204" pitchFamily="34" charset="0"/>
              </a:rPr>
              <a:t>A</a:t>
            </a:r>
            <a:r>
              <a:rPr lang="pt-BR" sz="100" kern="1200" dirty="0">
                <a:solidFill>
                  <a:srgbClr val="000000"/>
                </a:solidFill>
                <a:latin typeface="Arial" panose="020B0604020202020204" pitchFamily="34" charset="0"/>
              </a:rPr>
              <a:t> </a:t>
            </a:r>
            <a:r>
              <a:rPr lang="pt-BR" sz="2000" kern="1200" dirty="0">
                <a:solidFill>
                  <a:srgbClr val="000000"/>
                </a:solidFill>
                <a:latin typeface="Arial" panose="020B0604020202020204" pitchFamily="34" charset="0"/>
              </a:rPr>
              <a:t>N</a:t>
            </a:r>
            <a:r>
              <a:rPr lang="pt-BR" sz="100" kern="1200" dirty="0">
                <a:solidFill>
                  <a:srgbClr val="000000"/>
                </a:solidFill>
                <a:latin typeface="Arial" panose="020B0604020202020204" pitchFamily="34" charset="0"/>
              </a:rPr>
              <a:t> </a:t>
            </a:r>
            <a:r>
              <a:rPr lang="pt-BR" sz="2000" kern="1200" dirty="0">
                <a:solidFill>
                  <a:srgbClr val="000000"/>
                </a:solidFill>
                <a:latin typeface="Arial" panose="020B0604020202020204" pitchFamily="34" charset="0"/>
              </a:rPr>
              <a:t>N</a:t>
            </a:r>
            <a:r>
              <a:rPr lang="en-US" sz="2000" kern="1200" dirty="0">
                <a:solidFill>
                  <a:srgbClr val="000000"/>
                </a:solidFill>
                <a:latin typeface="Arial" panose="020B0604020202020204" pitchFamily="34" charset="0"/>
              </a:rPr>
              <a:t>)</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Engineering Task Force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E</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F)</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Research Task Force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R</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F)</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Engineering Steering Group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E</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S</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G)</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Architecture Board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A</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B)</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Society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S</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O</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C)</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Governance Forum (I</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G</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F)</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World Wide Web Consortium (W3C)</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Internet Network Operators Groups (N</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O</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G</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s)</a:t>
            </a:r>
            <a:endParaRPr lang="en-US" sz="2000" kern="1200" dirty="0">
              <a:solidFill>
                <a:srgbClr val="000000"/>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000" kern="1200" dirty="0">
                <a:cs typeface="Times New Roman" panose="02020603050405020304" pitchFamily="18" charset="0"/>
              </a:rPr>
              <a:t>Insight on Society: Government Regulation and Surveillance of the Internet</a:t>
            </a:r>
            <a:endParaRPr lang="en-IN" sz="3000"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Class discussion:</a:t>
            </a:r>
            <a:endParaRPr lang="en-US" kern="1200" dirty="0">
              <a:solidFill>
                <a:srgbClr val="000000"/>
              </a:solidFill>
              <a:latin typeface="Arial" panose="020B0604020202020204" pitchFamily="34" charset="0"/>
            </a:endParaRPr>
          </a:p>
          <a:p>
            <a:pPr marL="741680" lvl="1" indent="-284480">
              <a:spcAft>
                <a:spcPct val="0"/>
              </a:spcAft>
              <a:buSzPts val="2400"/>
              <a:defRPr/>
            </a:pPr>
            <a:r>
              <a:rPr lang="en-US" altLang="en-US" kern="1200" dirty="0">
                <a:solidFill>
                  <a:srgbClr val="000000"/>
                </a:solidFill>
                <a:latin typeface="Arial" panose="020B0604020202020204" pitchFamily="34" charset="0"/>
              </a:rPr>
              <a:t>How is it possible for any government to </a:t>
            </a:r>
            <a:r>
              <a:rPr lang="ja-JP" altLang="en-US" kern="1200" dirty="0">
                <a:solidFill>
                  <a:srgbClr val="000000"/>
                </a:solidFill>
                <a:latin typeface="Arial" panose="020B0604020202020204" pitchFamily="34" charset="0"/>
              </a:rPr>
              <a:t>“</a:t>
            </a:r>
            <a:r>
              <a:rPr lang="en-US" altLang="ja-JP" kern="1200" dirty="0">
                <a:solidFill>
                  <a:srgbClr val="000000"/>
                </a:solidFill>
                <a:latin typeface="Arial" panose="020B0604020202020204" pitchFamily="34" charset="0"/>
              </a:rPr>
              <a:t>control</a:t>
            </a:r>
            <a:r>
              <a:rPr lang="ja-JP" altLang="en-US" kern="1200" dirty="0">
                <a:solidFill>
                  <a:srgbClr val="000000"/>
                </a:solidFill>
                <a:latin typeface="Arial" panose="020B0604020202020204" pitchFamily="34" charset="0"/>
              </a:rPr>
              <a:t>”</a:t>
            </a:r>
            <a:r>
              <a:rPr lang="en-US" altLang="ja-JP" kern="1200" dirty="0">
                <a:solidFill>
                  <a:srgbClr val="000000"/>
                </a:solidFill>
                <a:latin typeface="Arial" panose="020B0604020202020204" pitchFamily="34" charset="0"/>
              </a:rPr>
              <a:t> or censor the Web?</a:t>
            </a:r>
            <a:endParaRPr lang="en-US" altLang="ja-JP" kern="1200" dirty="0">
              <a:solidFill>
                <a:srgbClr val="000000"/>
              </a:solidFill>
              <a:latin typeface="Arial" panose="020B0604020202020204" pitchFamily="34" charset="0"/>
            </a:endParaRPr>
          </a:p>
          <a:p>
            <a:pPr marL="741680" lvl="1" indent="-284480">
              <a:spcAft>
                <a:spcPct val="0"/>
              </a:spcAft>
              <a:buSzPts val="2400"/>
              <a:defRPr/>
            </a:pPr>
            <a:r>
              <a:rPr lang="en-US" altLang="en-US" kern="1200" dirty="0">
                <a:solidFill>
                  <a:srgbClr val="000000"/>
                </a:solidFill>
                <a:latin typeface="Arial" panose="020B0604020202020204" pitchFamily="34" charset="0"/>
              </a:rPr>
              <a:t>Does the Chinese government, or the U.S. government, have the right to censor </a:t>
            </a:r>
            <a:r>
              <a:rPr lang="en-US" dirty="0"/>
              <a:t>online </a:t>
            </a:r>
            <a:r>
              <a:rPr lang="en-US" altLang="en-US" kern="1200" dirty="0">
                <a:solidFill>
                  <a:srgbClr val="000000"/>
                </a:solidFill>
                <a:latin typeface="Arial" panose="020B0604020202020204" pitchFamily="34" charset="0"/>
              </a:rPr>
              <a:t>content?</a:t>
            </a:r>
            <a:endParaRPr lang="en-US" altLang="en-US" kern="1200" dirty="0">
              <a:solidFill>
                <a:srgbClr val="000000"/>
              </a:solidFill>
              <a:latin typeface="Arial" panose="020B0604020202020204" pitchFamily="34" charset="0"/>
            </a:endParaRPr>
          </a:p>
          <a:p>
            <a:pPr marL="741680" lvl="1" indent="-284480">
              <a:spcAft>
                <a:spcPct val="0"/>
              </a:spcAft>
              <a:buSzPts val="2400"/>
              <a:defRPr/>
            </a:pPr>
            <a:r>
              <a:rPr lang="en-US" altLang="en-US" kern="1200" dirty="0">
                <a:solidFill>
                  <a:srgbClr val="000000"/>
                </a:solidFill>
                <a:latin typeface="Arial" panose="020B0604020202020204" pitchFamily="34" charset="0"/>
              </a:rPr>
              <a:t>How should U.S. companies deal with governments that want to censor content?</a:t>
            </a:r>
            <a:endParaRPr lang="en-US" altLang="en-US" kern="1200" dirty="0">
              <a:solidFill>
                <a:srgbClr val="000000"/>
              </a:solidFill>
              <a:latin typeface="Arial" panose="020B0604020202020204" pitchFamily="34" charset="0"/>
            </a:endParaRPr>
          </a:p>
          <a:p>
            <a:pPr marL="741680" lvl="1" indent="-284480">
              <a:spcAft>
                <a:spcPct val="0"/>
              </a:spcAft>
              <a:buSzPts val="2400"/>
              <a:defRPr/>
            </a:pPr>
            <a:r>
              <a:rPr lang="en-US" altLang="en-US" kern="1200" dirty="0">
                <a:solidFill>
                  <a:srgbClr val="000000"/>
                </a:solidFill>
                <a:latin typeface="Arial" panose="020B0604020202020204" pitchFamily="34" charset="0"/>
              </a:rPr>
              <a:t>What would happen to e-commerce if the existing Web split into a different Web for each country?</a:t>
            </a:r>
            <a:endParaRPr lang="en-US" kern="1200" dirty="0">
              <a:solidFill>
                <a:srgbClr val="000000"/>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The Web</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latin typeface="Arial" panose="020B0604020202020204" pitchFamily="34" charset="0"/>
              </a:rPr>
              <a:t>1989–1991: Web invented</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Tim Berners-Lee at C</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E</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R</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N</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H</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T</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M</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L, H</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T</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T</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P, web server, web browser</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1993: Mosaic web browser w/G</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U</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I</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Andreessen and others at N</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C</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S</a:t>
            </a:r>
            <a:r>
              <a:rPr lang="en-US" altLang="en-US" sz="100" kern="1200" dirty="0">
                <a:solidFill>
                  <a:srgbClr val="000000"/>
                </a:solidFill>
                <a:latin typeface="Arial" panose="020B0604020202020204" pitchFamily="34" charset="0"/>
              </a:rPr>
              <a:t> </a:t>
            </a:r>
            <a:r>
              <a:rPr lang="en-US" altLang="en-US" kern="1200" dirty="0">
                <a:solidFill>
                  <a:srgbClr val="000000"/>
                </a:solidFill>
                <a:latin typeface="Arial" panose="020B0604020202020204" pitchFamily="34" charset="0"/>
              </a:rPr>
              <a:t>A</a:t>
            </a:r>
            <a:endParaRPr lang="en-US" altLang="en-US" kern="1200" dirty="0">
              <a:solidFill>
                <a:srgbClr val="000000"/>
              </a:solidFill>
              <a:latin typeface="Arial" panose="020B0604020202020204" pitchFamily="34" charset="0"/>
            </a:endParaRPr>
          </a:p>
          <a:p>
            <a:pPr marL="741680" lvl="1" indent="-284480">
              <a:spcAft>
                <a:spcPct val="0"/>
              </a:spcAft>
              <a:buSzPts val="2400"/>
            </a:pPr>
            <a:r>
              <a:rPr lang="en-US" altLang="en-US" kern="1200" dirty="0">
                <a:solidFill>
                  <a:srgbClr val="000000"/>
                </a:solidFill>
                <a:latin typeface="Arial" panose="020B0604020202020204" pitchFamily="34" charset="0"/>
              </a:rPr>
              <a:t>Runs on Windows, Macintosh, or Unix</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1994: Netscape Navigator, first commercial web browser</a:t>
            </a:r>
            <a:endParaRPr lang="en-US" altLang="en-US" kern="1200" dirty="0">
              <a:solidFill>
                <a:srgbClr val="000000"/>
              </a:solidFill>
              <a:latin typeface="Arial" panose="020B0604020202020204" pitchFamily="34" charset="0"/>
            </a:endParaRPr>
          </a:p>
          <a:p>
            <a:pPr marL="255905" lvl="0" indent="-255905">
              <a:spcAft>
                <a:spcPct val="0"/>
              </a:spcAft>
              <a:buSzPts val="2400"/>
            </a:pPr>
            <a:r>
              <a:rPr lang="en-US" altLang="en-US" kern="1200" dirty="0">
                <a:solidFill>
                  <a:srgbClr val="000000"/>
                </a:solidFill>
                <a:latin typeface="Arial" panose="020B0604020202020204" pitchFamily="34" charset="0"/>
              </a:rPr>
              <a:t>1995: Microsoft Internet Explorer</a:t>
            </a:r>
            <a:endParaRPr lang="en-US" altLang="en-US" kern="1200" dirty="0">
              <a:solidFill>
                <a:srgbClr val="000000"/>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Hypertext</a:t>
            </a:r>
            <a:endParaRPr lang="en-IN" dirty="0"/>
          </a:p>
        </p:txBody>
      </p:sp>
      <p:sp>
        <p:nvSpPr>
          <p:cNvPr id="4" name="Content Placeholder 3"/>
          <p:cNvSpPr>
            <a:spLocks noGrp="1"/>
          </p:cNvSpPr>
          <p:nvPr>
            <p:ph sz="quarter" idx="13"/>
          </p:nvPr>
        </p:nvSpPr>
        <p:spPr>
          <a:xfrm>
            <a:off x="457200" y="1552575"/>
            <a:ext cx="8306790" cy="2253420"/>
          </a:xfrm>
        </p:spPr>
        <p:txBody>
          <a:bodyPr/>
          <a:lstStyle/>
          <a:p>
            <a:pPr marL="255905" lvl="0" indent="-255905">
              <a:spcAft>
                <a:spcPct val="0"/>
              </a:spcAft>
              <a:buSzPts val="2400"/>
            </a:pPr>
            <a:r>
              <a:rPr lang="en-US" kern="1200" dirty="0">
                <a:solidFill>
                  <a:srgbClr val="000000"/>
                </a:solidFill>
                <a:latin typeface="Arial" panose="020B0604020202020204" pitchFamily="34" charset="0"/>
              </a:rPr>
              <a:t>Text formatted with embedded links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Links connect documents to one another, and to other objects such as sound, video, or animation files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Uses Hypertext Transfer Protocol (H</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 and U</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L</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 to locate resources on the Web</a:t>
            </a:r>
            <a:endParaRPr lang="en-US" kern="1200" dirty="0">
              <a:solidFill>
                <a:srgbClr val="000000"/>
              </a:solidFill>
              <a:latin typeface="Arial" panose="020B0604020202020204" pitchFamily="34" charset="0"/>
            </a:endParaRPr>
          </a:p>
        </p:txBody>
      </p:sp>
      <p:sp>
        <p:nvSpPr>
          <p:cNvPr id="5" name="Content Placeholder 4"/>
          <p:cNvSpPr>
            <a:spLocks noGrp="1"/>
          </p:cNvSpPr>
          <p:nvPr>
            <p:ph sz="quarter" idx="14"/>
          </p:nvPr>
        </p:nvSpPr>
        <p:spPr>
          <a:xfrm>
            <a:off x="457200" y="3883232"/>
            <a:ext cx="2998519" cy="451263"/>
          </a:xfrm>
        </p:spPr>
        <p:txBody>
          <a:bodyPr tIns="0"/>
          <a:lstStyle/>
          <a:p>
            <a:pPr lvl="1" indent="-284480"/>
            <a:r>
              <a:rPr lang="en-US" kern="1200" dirty="0">
                <a:solidFill>
                  <a:srgbClr val="000000"/>
                </a:solidFill>
              </a:rPr>
              <a:t>Example U</a:t>
            </a:r>
            <a:r>
              <a:rPr lang="en-US" sz="100" kern="1200" dirty="0">
                <a:solidFill>
                  <a:srgbClr val="000000"/>
                </a:solidFill>
              </a:rPr>
              <a:t> </a:t>
            </a:r>
            <a:r>
              <a:rPr lang="en-US" kern="1200" dirty="0">
                <a:solidFill>
                  <a:srgbClr val="000000"/>
                </a:solidFill>
              </a:rPr>
              <a:t>R</a:t>
            </a:r>
            <a:r>
              <a:rPr lang="en-US" sz="100" kern="1200" dirty="0">
                <a:solidFill>
                  <a:srgbClr val="000000"/>
                </a:solidFill>
              </a:rPr>
              <a:t> </a:t>
            </a:r>
            <a:r>
              <a:rPr lang="en-US" kern="1200" dirty="0">
                <a:solidFill>
                  <a:srgbClr val="000000"/>
                </a:solidFill>
              </a:rPr>
              <a:t>L:</a:t>
            </a:r>
            <a:endParaRPr lang="en-IN" dirty="0"/>
          </a:p>
        </p:txBody>
      </p:sp>
      <p:sp>
        <p:nvSpPr>
          <p:cNvPr id="8" name="Text Placeholder 7"/>
          <p:cNvSpPr>
            <a:spLocks noGrp="1"/>
          </p:cNvSpPr>
          <p:nvPr>
            <p:ph type="body" sz="quarter" idx="17"/>
          </p:nvPr>
        </p:nvSpPr>
        <p:spPr>
          <a:xfrm>
            <a:off x="457200" y="4411732"/>
            <a:ext cx="8229600" cy="492777"/>
          </a:xfrm>
        </p:spPr>
        <p:txBody>
          <a:bodyPr tIns="0"/>
          <a:lstStyle/>
          <a:p>
            <a:pPr marL="741680" lvl="1" indent="0">
              <a:buNone/>
            </a:pPr>
            <a:r>
              <a:rPr lang="en-US" sz="2400" kern="1200" dirty="0">
                <a:solidFill>
                  <a:srgbClr val="000000"/>
                </a:solidFill>
                <a:latin typeface="+mn-lt"/>
                <a:hlinkClick r:id="rId1" tooltip="http://megacorp.com/content/features/082602.html"/>
              </a:rPr>
              <a:t>http://megacorp.com/content/features/082602.html</a:t>
            </a:r>
            <a:endParaRPr lang="en-IN" sz="2400" dirty="0">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Markup Languages</a:t>
            </a:r>
            <a:endParaRPr lang="en-IN" dirty="0"/>
          </a:p>
        </p:txBody>
      </p:sp>
      <p:sp>
        <p:nvSpPr>
          <p:cNvPr id="3" name="Content Placeholder 2"/>
          <p:cNvSpPr>
            <a:spLocks noGrp="1"/>
          </p:cNvSpPr>
          <p:nvPr>
            <p:ph sz="quarter" idx="13"/>
          </p:nvPr>
        </p:nvSpPr>
        <p:spPr>
          <a:xfrm>
            <a:off x="457201" y="1554920"/>
            <a:ext cx="8009906" cy="4663335"/>
          </a:xfrm>
        </p:spPr>
        <p:txBody>
          <a:bodyPr/>
          <a:lstStyle/>
          <a:p>
            <a:pPr marL="255905" lvl="0" indent="-255905">
              <a:spcAft>
                <a:spcPct val="0"/>
              </a:spcAft>
              <a:buSzPts val="2400"/>
            </a:pPr>
            <a:r>
              <a:rPr lang="en-US" altLang="en-US" kern="1200" dirty="0">
                <a:solidFill>
                  <a:srgbClr val="000000"/>
                </a:solidFill>
              </a:rPr>
              <a:t>Hypertext Markup Language (H</a:t>
            </a:r>
            <a:r>
              <a:rPr lang="en-US" altLang="en-US" sz="100" kern="1200" dirty="0">
                <a:solidFill>
                  <a:srgbClr val="000000"/>
                </a:solidFill>
              </a:rPr>
              <a:t> </a:t>
            </a:r>
            <a:r>
              <a:rPr lang="en-US" altLang="en-US" kern="1200" dirty="0">
                <a:solidFill>
                  <a:srgbClr val="000000"/>
                </a:solidFill>
              </a:rPr>
              <a:t>T</a:t>
            </a:r>
            <a:r>
              <a:rPr lang="en-US" altLang="en-US" sz="100" kern="1200" dirty="0">
                <a:solidFill>
                  <a:srgbClr val="000000"/>
                </a:solidFill>
              </a:rPr>
              <a:t> </a:t>
            </a:r>
            <a:r>
              <a:rPr lang="en-US" altLang="en-US" kern="1200" dirty="0">
                <a:solidFill>
                  <a:srgbClr val="000000"/>
                </a:solidFill>
              </a:rPr>
              <a:t>M</a:t>
            </a:r>
            <a:r>
              <a:rPr lang="en-US" altLang="en-US" sz="100" kern="1200" dirty="0">
                <a:solidFill>
                  <a:srgbClr val="000000"/>
                </a:solidFill>
              </a:rPr>
              <a:t> </a:t>
            </a:r>
            <a:r>
              <a:rPr lang="en-US" altLang="en-US" kern="1200" dirty="0">
                <a:solidFill>
                  <a:srgbClr val="000000"/>
                </a:solidFill>
              </a:rPr>
              <a:t>L)</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Fixed set of pre-defined markup </a:t>
            </a:r>
            <a:r>
              <a:rPr lang="en-AU" altLang="ja-JP" kern="1200" dirty="0">
                <a:solidFill>
                  <a:srgbClr val="000000"/>
                </a:solidFill>
              </a:rPr>
              <a:t>“</a:t>
            </a:r>
            <a:r>
              <a:rPr lang="en-US" altLang="ja-JP" kern="1200" dirty="0">
                <a:solidFill>
                  <a:srgbClr val="000000"/>
                </a:solidFill>
              </a:rPr>
              <a:t>tags</a:t>
            </a:r>
            <a:r>
              <a:rPr lang="en-AU" altLang="ja-JP" kern="1200" dirty="0">
                <a:solidFill>
                  <a:srgbClr val="000000"/>
                </a:solidFill>
              </a:rPr>
              <a:t>”</a:t>
            </a:r>
            <a:r>
              <a:rPr lang="en-US" altLang="ja-JP" kern="1200" dirty="0">
                <a:solidFill>
                  <a:srgbClr val="000000"/>
                </a:solidFill>
              </a:rPr>
              <a:t> used to format text</a:t>
            </a:r>
            <a:endParaRPr lang="en-US" altLang="ja-JP" kern="1200" dirty="0">
              <a:solidFill>
                <a:srgbClr val="000000"/>
              </a:solidFill>
            </a:endParaRPr>
          </a:p>
          <a:p>
            <a:pPr marL="741680" lvl="1" indent="-284480">
              <a:spcAft>
                <a:spcPct val="0"/>
              </a:spcAft>
              <a:buSzPts val="2400"/>
            </a:pPr>
            <a:r>
              <a:rPr lang="en-US" altLang="en-US" kern="1200" dirty="0">
                <a:solidFill>
                  <a:srgbClr val="000000"/>
                </a:solidFill>
              </a:rPr>
              <a:t>Controls look and feel of web pages</a:t>
            </a:r>
            <a:endParaRPr lang="en-US" altLang="en-US" kern="1200" dirty="0">
              <a:solidFill>
                <a:srgbClr val="000000"/>
              </a:solidFill>
            </a:endParaRPr>
          </a:p>
          <a:p>
            <a:pPr marL="741680" lvl="1" indent="-284480">
              <a:spcAft>
                <a:spcPct val="0"/>
              </a:spcAft>
              <a:buSzPts val="2400"/>
            </a:pPr>
            <a:r>
              <a:rPr lang="en-US" dirty="0"/>
              <a:t>Used in conjunction with C</a:t>
            </a:r>
            <a:r>
              <a:rPr lang="en-US" sz="100" dirty="0"/>
              <a:t> </a:t>
            </a:r>
            <a:r>
              <a:rPr lang="en-US" dirty="0"/>
              <a:t>S</a:t>
            </a:r>
            <a:r>
              <a:rPr lang="en-US" sz="100" dirty="0"/>
              <a:t> </a:t>
            </a:r>
            <a:r>
              <a:rPr lang="en-US" dirty="0"/>
              <a:t>S (Cascading Style Sheets)</a:t>
            </a:r>
            <a:endParaRPr lang="en-US" dirty="0"/>
          </a:p>
          <a:p>
            <a:pPr marL="741680" lvl="1" indent="-284480">
              <a:spcAft>
                <a:spcPct val="0"/>
              </a:spcAft>
              <a:buSzPts val="2400"/>
            </a:pPr>
            <a:r>
              <a:rPr lang="en-US" altLang="en-US" kern="1200" dirty="0">
                <a:solidFill>
                  <a:srgbClr val="000000"/>
                </a:solidFill>
              </a:rPr>
              <a:t>H</a:t>
            </a:r>
            <a:r>
              <a:rPr lang="en-US" altLang="en-US" sz="100" kern="1200" dirty="0">
                <a:solidFill>
                  <a:srgbClr val="000000"/>
                </a:solidFill>
              </a:rPr>
              <a:t> </a:t>
            </a:r>
            <a:r>
              <a:rPr lang="en-US" altLang="en-US" kern="1200" dirty="0">
                <a:solidFill>
                  <a:srgbClr val="000000"/>
                </a:solidFill>
              </a:rPr>
              <a:t>T</a:t>
            </a:r>
            <a:r>
              <a:rPr lang="en-US" altLang="en-US" sz="100" kern="1200" dirty="0">
                <a:solidFill>
                  <a:srgbClr val="000000"/>
                </a:solidFill>
              </a:rPr>
              <a:t> </a:t>
            </a:r>
            <a:r>
              <a:rPr lang="en-US" altLang="en-US" kern="1200" dirty="0">
                <a:solidFill>
                  <a:srgbClr val="000000"/>
                </a:solidFill>
              </a:rPr>
              <a:t>M</a:t>
            </a:r>
            <a:r>
              <a:rPr lang="en-US" altLang="en-US" sz="100" kern="1200" dirty="0">
                <a:solidFill>
                  <a:srgbClr val="000000"/>
                </a:solidFill>
              </a:rPr>
              <a:t> </a:t>
            </a:r>
            <a:r>
              <a:rPr lang="en-US" altLang="en-US" kern="1200" dirty="0">
                <a:solidFill>
                  <a:srgbClr val="000000"/>
                </a:solidFill>
              </a:rPr>
              <a:t>L5 the newest version</a:t>
            </a:r>
            <a:endParaRPr lang="en-US" altLang="en-US" kern="1200" dirty="0">
              <a:solidFill>
                <a:srgbClr val="000000"/>
              </a:solidFill>
            </a:endParaRPr>
          </a:p>
          <a:p>
            <a:pPr marL="255905" lvl="0" indent="-255905">
              <a:spcAft>
                <a:spcPct val="0"/>
              </a:spcAft>
              <a:buSzPts val="2400"/>
            </a:pPr>
            <a:r>
              <a:rPr lang="en-US" altLang="en-US" kern="1200" dirty="0">
                <a:solidFill>
                  <a:srgbClr val="000000"/>
                </a:solidFill>
              </a:rPr>
              <a:t>eXtensible Markup Language (X</a:t>
            </a:r>
            <a:r>
              <a:rPr lang="en-US" altLang="en-US" sz="100" kern="1200" dirty="0">
                <a:solidFill>
                  <a:srgbClr val="000000"/>
                </a:solidFill>
              </a:rPr>
              <a:t> </a:t>
            </a:r>
            <a:r>
              <a:rPr lang="en-US" altLang="en-US" kern="1200" dirty="0">
                <a:solidFill>
                  <a:srgbClr val="000000"/>
                </a:solidFill>
              </a:rPr>
              <a:t>M</a:t>
            </a:r>
            <a:r>
              <a:rPr lang="en-US" altLang="en-US" sz="100" kern="1200" dirty="0">
                <a:solidFill>
                  <a:srgbClr val="000000"/>
                </a:solidFill>
              </a:rPr>
              <a:t> </a:t>
            </a:r>
            <a:r>
              <a:rPr lang="en-US" altLang="en-US" kern="1200" dirty="0">
                <a:solidFill>
                  <a:srgbClr val="000000"/>
                </a:solidFill>
              </a:rPr>
              <a:t>L)</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Designed to describe data and information</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Tags used are defined by user</a:t>
            </a:r>
            <a:endParaRPr lang="en-US" altLang="en-US" kern="1200" dirty="0">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kern="1200" dirty="0">
                <a:cs typeface="Times New Roman" panose="02020603050405020304" pitchFamily="18" charset="0"/>
              </a:rPr>
              <a:t>Web Servers and Web Clients</a:t>
            </a:r>
            <a:endParaRPr lang="en-IN" dirty="0"/>
          </a:p>
        </p:txBody>
      </p:sp>
      <p:sp>
        <p:nvSpPr>
          <p:cNvPr id="3" name="Content Placeholder 2"/>
          <p:cNvSpPr>
            <a:spLocks noGrp="1"/>
          </p:cNvSpPr>
          <p:nvPr>
            <p:ph sz="quarter" idx="13"/>
          </p:nvPr>
        </p:nvSpPr>
        <p:spPr/>
        <p:txBody>
          <a:bodyPr/>
          <a:lstStyle/>
          <a:p>
            <a:pPr marL="255905" lvl="0" indent="-255905">
              <a:spcAft>
                <a:spcPct val="0"/>
              </a:spcAft>
            </a:pPr>
            <a:r>
              <a:rPr lang="en-US" sz="2000" kern="1200" dirty="0">
                <a:solidFill>
                  <a:srgbClr val="000000"/>
                </a:solidFill>
                <a:latin typeface="Arial" panose="020B0604020202020204" pitchFamily="34" charset="0"/>
              </a:rPr>
              <a:t>Web server software</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Enables a computer to deliver web pages to clients on a network that request this service by sending an H</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err="1">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P request</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Basic capabilities: Security services, F</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P, search engine, data capture</a:t>
            </a:r>
            <a:endParaRPr lang="en-US" sz="2000" kern="1200" dirty="0">
              <a:solidFill>
                <a:srgbClr val="000000"/>
              </a:solidFill>
              <a:latin typeface="Arial" panose="020B0604020202020204" pitchFamily="34" charset="0"/>
            </a:endParaRPr>
          </a:p>
          <a:p>
            <a:pPr marL="255905" lvl="0" indent="-255905">
              <a:spcAft>
                <a:spcPct val="0"/>
              </a:spcAft>
            </a:pPr>
            <a:r>
              <a:rPr lang="en-US" sz="2000" kern="1200" dirty="0">
                <a:solidFill>
                  <a:srgbClr val="000000"/>
                </a:solidFill>
                <a:latin typeface="Arial" panose="020B0604020202020204" pitchFamily="34" charset="0"/>
              </a:rPr>
              <a:t>Web server</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May refer to either web server software or physical server</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Specialized servers: Database servers, ad servers, and so on</a:t>
            </a:r>
            <a:endParaRPr lang="en-US" sz="2000" kern="1200" dirty="0">
              <a:solidFill>
                <a:srgbClr val="000000"/>
              </a:solidFill>
              <a:latin typeface="Arial" panose="020B0604020202020204" pitchFamily="34" charset="0"/>
            </a:endParaRPr>
          </a:p>
          <a:p>
            <a:pPr marL="255905" lvl="0" indent="-255905">
              <a:spcAft>
                <a:spcPct val="0"/>
              </a:spcAft>
            </a:pPr>
            <a:r>
              <a:rPr lang="en-US" sz="2000" kern="1200" dirty="0">
                <a:solidFill>
                  <a:srgbClr val="000000"/>
                </a:solidFill>
                <a:latin typeface="Arial" panose="020B0604020202020204" pitchFamily="34" charset="0"/>
              </a:rPr>
              <a:t>Web client</a:t>
            </a:r>
            <a:endParaRPr lang="en-US" sz="2000" kern="1200" dirty="0">
              <a:solidFill>
                <a:srgbClr val="000000"/>
              </a:solidFill>
              <a:latin typeface="Arial" panose="020B0604020202020204" pitchFamily="34" charset="0"/>
            </a:endParaRPr>
          </a:p>
          <a:p>
            <a:pPr marL="741680" lvl="1" indent="-284480">
              <a:spcAft>
                <a:spcPct val="0"/>
              </a:spcAft>
            </a:pPr>
            <a:r>
              <a:rPr lang="en-US" sz="2000" kern="1200" dirty="0">
                <a:solidFill>
                  <a:srgbClr val="000000"/>
                </a:solidFill>
                <a:latin typeface="Arial" panose="020B0604020202020204" pitchFamily="34" charset="0"/>
              </a:rPr>
              <a:t>Any computing device attached to the Internet that is capable of making H</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err="1">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P requests and displaying H</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sz="2000" kern="1200" dirty="0">
                <a:solidFill>
                  <a:srgbClr val="000000"/>
                </a:solidFill>
                <a:latin typeface="Arial" panose="020B0604020202020204" pitchFamily="34" charset="0"/>
              </a:rPr>
              <a:t>L pages</a:t>
            </a:r>
            <a:endParaRPr lang="en-US" sz="2000" kern="1200" dirty="0">
              <a:solidFill>
                <a:srgbClr val="000000"/>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Web Browsers</a:t>
            </a:r>
            <a:endParaRPr lang="en-IN" dirty="0"/>
          </a:p>
        </p:txBody>
      </p:sp>
      <p:sp>
        <p:nvSpPr>
          <p:cNvPr id="3" name="Content Placeholder 2"/>
          <p:cNvSpPr>
            <a:spLocks noGrp="1"/>
          </p:cNvSpPr>
          <p:nvPr>
            <p:ph sz="quarter" idx="13"/>
          </p:nvPr>
        </p:nvSpPr>
        <p:spPr>
          <a:xfrm>
            <a:off x="457200" y="1554920"/>
            <a:ext cx="8033657" cy="4663335"/>
          </a:xfrm>
        </p:spPr>
        <p:txBody>
          <a:bodyPr/>
          <a:lstStyle/>
          <a:p>
            <a:pPr marL="255905" lvl="0" indent="-255905">
              <a:spcAft>
                <a:spcPct val="0"/>
              </a:spcAft>
              <a:buSzPts val="2400"/>
            </a:pPr>
            <a:r>
              <a:rPr lang="en-US" altLang="en-US" kern="1200" dirty="0">
                <a:solidFill>
                  <a:srgbClr val="000000"/>
                </a:solidFill>
              </a:rPr>
              <a:t>Primary purpose is to display web page, but may include added features</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Google’s Chrome: almost </a:t>
            </a:r>
            <a:r>
              <a:rPr lang="en-US" dirty="0"/>
              <a:t>70% of desktop market and about 65% of </a:t>
            </a:r>
            <a:r>
              <a:rPr lang="en-US" altLang="en-US" kern="1200" dirty="0">
                <a:solidFill>
                  <a:srgbClr val="000000"/>
                </a:solidFill>
              </a:rPr>
              <a:t>mobile market</a:t>
            </a:r>
            <a:endParaRPr lang="en-US" altLang="en-US" kern="1200" dirty="0">
              <a:solidFill>
                <a:srgbClr val="000000"/>
              </a:solidFill>
            </a:endParaRPr>
          </a:p>
          <a:p>
            <a:pPr marL="1144905" lvl="2" indent="-230505">
              <a:spcAft>
                <a:spcPct val="0"/>
              </a:spcAft>
              <a:buSzPts val="2400"/>
            </a:pPr>
            <a:r>
              <a:rPr lang="en-US" altLang="en-US" kern="1200" dirty="0">
                <a:solidFill>
                  <a:srgbClr val="000000"/>
                </a:solidFill>
              </a:rPr>
              <a:t>Open source</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Mozilla Firefox: 8% desktop, &gt;1% mobile</a:t>
            </a:r>
            <a:endParaRPr lang="en-US" altLang="en-US" kern="1200" dirty="0">
              <a:solidFill>
                <a:srgbClr val="000000"/>
              </a:solidFill>
            </a:endParaRPr>
          </a:p>
          <a:p>
            <a:pPr marL="1144905" lvl="2" indent="-230505">
              <a:spcAft>
                <a:spcPct val="0"/>
              </a:spcAft>
              <a:buSzPts val="2400"/>
            </a:pPr>
            <a:r>
              <a:rPr lang="en-US" altLang="en-US" kern="1200" dirty="0">
                <a:solidFill>
                  <a:srgbClr val="000000"/>
                </a:solidFill>
              </a:rPr>
              <a:t>Open source</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Microsoft Edge: 7% desktop</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Internet Explorer: 6% desktop</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Apple’s Safari: 4% desktop, 27% mobile</a:t>
            </a:r>
            <a:endParaRPr lang="en-US" altLang="en-US" kern="1200" dirty="0">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kern="1200" dirty="0">
                <a:cs typeface="Times New Roman" panose="02020603050405020304" pitchFamily="18" charset="0"/>
              </a:rPr>
              <a:t>The Internet and Web: Features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Features on which the foundations of e-commerce are built:</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Communication tools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Search engines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Downloadable and streaming media</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Web 2.0 applications and services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Virtual reality and augmented reality</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Intelligent digital assistants</a:t>
            </a:r>
            <a:endParaRPr lang="en-US" kern="1200" dirty="0">
              <a:solidFill>
                <a:srgbClr val="000000"/>
              </a:solidFill>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Communication Tools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E-mail</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Most used application of the Internet</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Messaging Applications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Instant messaging</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Online message boards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Internet telephony</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V</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O</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I</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P</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Videoconferencing, video chatting, telepresence</a:t>
            </a:r>
            <a:endParaRPr lang="en-US" kern="1200" dirty="0">
              <a:solidFill>
                <a:srgbClr val="000000"/>
              </a:solidFill>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7867403" cy="1097279"/>
          </a:xfrm>
        </p:spPr>
        <p:txBody>
          <a:bodyPr/>
          <a:lstStyle/>
          <a:p>
            <a:r>
              <a:rPr lang="en-IN" sz="3200" dirty="0"/>
              <a:t>Insight on Technology: Zoom in the Midst of the Pandemic</a:t>
            </a:r>
            <a:endParaRPr lang="en-IN" sz="3200" dirty="0"/>
          </a:p>
        </p:txBody>
      </p:sp>
      <p:sp>
        <p:nvSpPr>
          <p:cNvPr id="3" name="Content Placeholder 2"/>
          <p:cNvSpPr>
            <a:spLocks noGrp="1"/>
          </p:cNvSpPr>
          <p:nvPr>
            <p:ph sz="quarter" idx="13"/>
          </p:nvPr>
        </p:nvSpPr>
        <p:spPr>
          <a:xfrm>
            <a:off x="457201" y="1554920"/>
            <a:ext cx="8045532" cy="4663335"/>
          </a:xfrm>
        </p:spPr>
        <p:txBody>
          <a:bodyPr/>
          <a:lstStyle/>
          <a:p>
            <a:pPr lvl="0"/>
            <a:r>
              <a:rPr lang="en-US" dirty="0"/>
              <a:t>Class Discussion</a:t>
            </a:r>
            <a:endParaRPr lang="en-US" dirty="0"/>
          </a:p>
          <a:p>
            <a:pPr lvl="1"/>
            <a:r>
              <a:rPr lang="en-US" dirty="0"/>
              <a:t>What has your experience using Zoom and other videoconferencing services during the pandemic been like?</a:t>
            </a:r>
            <a:endParaRPr lang="en-US" dirty="0"/>
          </a:p>
          <a:p>
            <a:pPr lvl="1"/>
            <a:r>
              <a:rPr lang="en-US" dirty="0"/>
              <a:t>What challenges does Zoom face?</a:t>
            </a:r>
            <a:endParaRPr lang="en-US" dirty="0"/>
          </a:p>
          <a:p>
            <a:pPr lvl="1"/>
            <a:r>
              <a:rPr lang="en-US" dirty="0"/>
              <a:t>How has Zoom responded to those challenges?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Search Engines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rPr>
              <a:t>Identify web pages that match queries based on one or more techniques</a:t>
            </a:r>
            <a:endParaRPr lang="en-US" kern="1200" dirty="0">
              <a:solidFill>
                <a:srgbClr val="000000"/>
              </a:solidFill>
            </a:endParaRPr>
          </a:p>
          <a:p>
            <a:pPr marL="741680" lvl="1" indent="-284480">
              <a:spcAft>
                <a:spcPct val="0"/>
              </a:spcAft>
              <a:buSzPts val="2400"/>
            </a:pPr>
            <a:r>
              <a:rPr lang="en-US" kern="1200" dirty="0">
                <a:solidFill>
                  <a:srgbClr val="000000"/>
                </a:solidFill>
              </a:rPr>
              <a:t>Keyword indexes</a:t>
            </a:r>
            <a:endParaRPr lang="en-US" kern="1200" dirty="0">
              <a:solidFill>
                <a:srgbClr val="000000"/>
              </a:solidFill>
            </a:endParaRPr>
          </a:p>
          <a:p>
            <a:pPr marL="741680" lvl="1" indent="-284480">
              <a:spcAft>
                <a:spcPct val="0"/>
              </a:spcAft>
              <a:buSzPts val="2400"/>
            </a:pPr>
            <a:r>
              <a:rPr lang="en-US" kern="1200" dirty="0">
                <a:solidFill>
                  <a:srgbClr val="000000"/>
                </a:solidFill>
              </a:rPr>
              <a:t>Page ranking</a:t>
            </a:r>
            <a:endParaRPr lang="en-US" kern="1200" dirty="0">
              <a:solidFill>
                <a:srgbClr val="000000"/>
              </a:solidFill>
            </a:endParaRPr>
          </a:p>
          <a:p>
            <a:pPr marL="255905" lvl="0" indent="-255905">
              <a:spcAft>
                <a:spcPct val="0"/>
              </a:spcAft>
              <a:buSzPts val="2400"/>
            </a:pPr>
            <a:r>
              <a:rPr lang="en-US" kern="1200" dirty="0">
                <a:solidFill>
                  <a:srgbClr val="000000"/>
                </a:solidFill>
              </a:rPr>
              <a:t>Also serve as:</a:t>
            </a:r>
            <a:endParaRPr lang="en-US" kern="1200" dirty="0">
              <a:solidFill>
                <a:srgbClr val="000000"/>
              </a:solidFill>
            </a:endParaRPr>
          </a:p>
          <a:p>
            <a:pPr marL="741680" lvl="1" indent="-284480">
              <a:spcAft>
                <a:spcPct val="0"/>
              </a:spcAft>
              <a:buSzPts val="2400"/>
            </a:pPr>
            <a:r>
              <a:rPr lang="en-US" kern="1200" dirty="0">
                <a:solidFill>
                  <a:srgbClr val="000000"/>
                </a:solidFill>
              </a:rPr>
              <a:t>Shopping tools</a:t>
            </a:r>
            <a:endParaRPr lang="en-US" kern="1200" dirty="0">
              <a:solidFill>
                <a:srgbClr val="000000"/>
              </a:solidFill>
            </a:endParaRPr>
          </a:p>
          <a:p>
            <a:pPr marL="741680" lvl="1" indent="-284480">
              <a:spcAft>
                <a:spcPct val="0"/>
              </a:spcAft>
              <a:buSzPts val="2400"/>
            </a:pPr>
            <a:r>
              <a:rPr lang="en-US" kern="1200" dirty="0">
                <a:solidFill>
                  <a:srgbClr val="000000"/>
                </a:solidFill>
              </a:rPr>
              <a:t>Advertising vehicles (search engine marketing)</a:t>
            </a:r>
            <a:endParaRPr lang="en-US" kern="1200" dirty="0">
              <a:solidFill>
                <a:srgbClr val="000000"/>
              </a:solidFill>
            </a:endParaRPr>
          </a:p>
          <a:p>
            <a:pPr marL="741680" lvl="1" indent="-284480">
              <a:spcAft>
                <a:spcPct val="0"/>
              </a:spcAft>
              <a:buSzPts val="2400"/>
            </a:pPr>
            <a:r>
              <a:rPr lang="en-US" kern="1200" dirty="0">
                <a:solidFill>
                  <a:srgbClr val="000000"/>
                </a:solidFill>
              </a:rPr>
              <a:t>Tool within e-commerce sites</a:t>
            </a:r>
            <a:endParaRPr lang="en-US" kern="1200" dirty="0">
              <a:solidFill>
                <a:srgbClr val="000000"/>
              </a:solidFill>
            </a:endParaRPr>
          </a:p>
          <a:p>
            <a:pPr marL="255905" lvl="0" indent="-255905">
              <a:spcAft>
                <a:spcPct val="0"/>
              </a:spcAft>
              <a:buSzPts val="2400"/>
            </a:pPr>
            <a:r>
              <a:rPr lang="en-US" kern="1200" dirty="0">
                <a:solidFill>
                  <a:srgbClr val="000000"/>
                </a:solidFill>
              </a:rPr>
              <a:t>Top three providers: Google, Microsoft’s Bing, Verizon Media (Yahoo)</a:t>
            </a:r>
            <a:endParaRPr lang="en-US" kern="1200" dirty="0">
              <a:solidFill>
                <a:srgbClr val="0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kern="1200" dirty="0">
                <a:cs typeface="Times New Roman" panose="02020603050405020304" pitchFamily="18" charset="0"/>
              </a:rPr>
              <a:t>Figure 3.17 How Google Works</a:t>
            </a:r>
            <a:endParaRPr lang="en-IN" dirty="0"/>
          </a:p>
        </p:txBody>
      </p:sp>
      <p:pic>
        <p:nvPicPr>
          <p:cNvPr id="7" name="Content Placeholder 6" descr="A flow chart depicts how Google works. For a full description, see Notes. Press F6."/>
          <p:cNvPicPr>
            <a:picLocks noGrp="1" noChangeAspect="1"/>
          </p:cNvPicPr>
          <p:nvPr>
            <p:ph sz="quarter" idx="13"/>
          </p:nvPr>
        </p:nvPicPr>
        <p:blipFill rotWithShape="1">
          <a:blip r:embed="rId1"/>
          <a:srcRect b="3553"/>
          <a:stretch>
            <a:fillRect/>
          </a:stretch>
        </p:blipFill>
        <p:spPr>
          <a:xfrm>
            <a:off x="2875721" y="1638927"/>
            <a:ext cx="3043307" cy="466240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Downloadable and Streaming Media</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Downloads: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Growth in broadband connections enables large media file downloads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Streaming technologies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Enables music, video, and other large files to be sent to users in chunks so that the file can play uninterrupted</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Podcasting</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Explosion in online video viewing</a:t>
            </a:r>
            <a:endParaRPr lang="en-US" kern="1200" dirty="0">
              <a:solidFill>
                <a:srgbClr val="000000"/>
              </a:solidFill>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kern="1200" dirty="0">
                <a:cs typeface="Times New Roman" panose="02020603050405020304" pitchFamily="18" charset="0"/>
              </a:rPr>
              <a:t>Web 2.0 Features and Services</a:t>
            </a:r>
            <a:endParaRPr lang="en-IN" dirty="0"/>
          </a:p>
        </p:txBody>
      </p:sp>
      <p:sp>
        <p:nvSpPr>
          <p:cNvPr id="3" name="Content Placeholder 2"/>
          <p:cNvSpPr>
            <a:spLocks noGrp="1"/>
          </p:cNvSpPr>
          <p:nvPr>
            <p:ph sz="quarter" idx="13"/>
          </p:nvPr>
        </p:nvSpPr>
        <p:spPr/>
        <p:txBody>
          <a:bodyPr/>
          <a:lstStyle/>
          <a:p>
            <a:pPr marL="255905" lvl="0" indent="-255905">
              <a:spcAft>
                <a:spcPct val="0"/>
              </a:spcAft>
            </a:pPr>
            <a:r>
              <a:rPr lang="en-US" sz="2200" kern="1200" dirty="0">
                <a:solidFill>
                  <a:srgbClr val="000000"/>
                </a:solidFill>
                <a:latin typeface="Arial" panose="020B0604020202020204" pitchFamily="34" charset="0"/>
              </a:rPr>
              <a:t>Online Social Networks</a:t>
            </a:r>
            <a:endParaRPr lang="en-US" sz="2200" kern="1200" dirty="0">
              <a:solidFill>
                <a:srgbClr val="000000"/>
              </a:solidFill>
              <a:latin typeface="Arial" panose="020B0604020202020204" pitchFamily="34" charset="0"/>
            </a:endParaRPr>
          </a:p>
          <a:p>
            <a:pPr marL="741680" lvl="1" indent="-284480">
              <a:spcAft>
                <a:spcPct val="0"/>
              </a:spcAft>
            </a:pPr>
            <a:r>
              <a:rPr lang="en-US" sz="2200" kern="1200" dirty="0">
                <a:solidFill>
                  <a:srgbClr val="000000"/>
                </a:solidFill>
                <a:latin typeface="Arial" panose="020B0604020202020204" pitchFamily="34" charset="0"/>
              </a:rPr>
              <a:t>Services that support communication among networks of friends, peers</a:t>
            </a:r>
            <a:endParaRPr lang="en-US" sz="2200" kern="1200" dirty="0">
              <a:solidFill>
                <a:srgbClr val="000000"/>
              </a:solidFill>
              <a:latin typeface="Arial" panose="020B0604020202020204" pitchFamily="34" charset="0"/>
            </a:endParaRPr>
          </a:p>
          <a:p>
            <a:pPr marL="255905" lvl="0" indent="-255905">
              <a:spcAft>
                <a:spcPct val="0"/>
              </a:spcAft>
            </a:pPr>
            <a:r>
              <a:rPr lang="en-US" sz="2200" kern="1200" dirty="0">
                <a:solidFill>
                  <a:srgbClr val="000000"/>
                </a:solidFill>
                <a:latin typeface="Arial" panose="020B0604020202020204" pitchFamily="34" charset="0"/>
              </a:rPr>
              <a:t>Blogs</a:t>
            </a:r>
            <a:endParaRPr lang="en-US" sz="2200" kern="1200" dirty="0">
              <a:solidFill>
                <a:srgbClr val="000000"/>
              </a:solidFill>
              <a:latin typeface="Arial" panose="020B0604020202020204" pitchFamily="34" charset="0"/>
            </a:endParaRPr>
          </a:p>
          <a:p>
            <a:pPr marL="741680" lvl="1" indent="-284480">
              <a:spcAft>
                <a:spcPct val="0"/>
              </a:spcAft>
            </a:pPr>
            <a:r>
              <a:rPr lang="en-US" sz="2200" kern="1200" dirty="0">
                <a:solidFill>
                  <a:srgbClr val="000000"/>
                </a:solidFill>
                <a:latin typeface="Arial" panose="020B0604020202020204" pitchFamily="34" charset="0"/>
              </a:rPr>
              <a:t>Personal web page of chronological entries</a:t>
            </a:r>
            <a:endParaRPr lang="en-US" sz="2200" kern="1200" dirty="0">
              <a:solidFill>
                <a:srgbClr val="000000"/>
              </a:solidFill>
              <a:latin typeface="Arial" panose="020B0604020202020204" pitchFamily="34" charset="0"/>
            </a:endParaRPr>
          </a:p>
          <a:p>
            <a:pPr marL="741680" lvl="1" indent="-284480">
              <a:spcAft>
                <a:spcPct val="0"/>
              </a:spcAft>
            </a:pPr>
            <a:r>
              <a:rPr lang="en-US" sz="2200" kern="1200" dirty="0">
                <a:solidFill>
                  <a:srgbClr val="000000"/>
                </a:solidFill>
                <a:latin typeface="Arial" panose="020B0604020202020204" pitchFamily="34" charset="0"/>
              </a:rPr>
              <a:t>Enables web page publishing with no knowledge of H</a:t>
            </a:r>
            <a:r>
              <a:rPr lang="en-US" sz="100" kern="1200" dirty="0">
                <a:solidFill>
                  <a:srgbClr val="000000"/>
                </a:solidFill>
                <a:latin typeface="Arial" panose="020B0604020202020204" pitchFamily="34" charset="0"/>
              </a:rPr>
              <a:t> </a:t>
            </a:r>
            <a:r>
              <a:rPr lang="en-US" sz="2200" kern="1200" dirty="0">
                <a:solidFill>
                  <a:srgbClr val="000000"/>
                </a:solidFill>
                <a:latin typeface="Arial" panose="020B0604020202020204" pitchFamily="34" charset="0"/>
              </a:rPr>
              <a:t>T</a:t>
            </a:r>
            <a:r>
              <a:rPr lang="en-US" sz="100" kern="1200" dirty="0">
                <a:solidFill>
                  <a:srgbClr val="000000"/>
                </a:solidFill>
                <a:latin typeface="Arial" panose="020B0604020202020204" pitchFamily="34" charset="0"/>
              </a:rPr>
              <a:t> </a:t>
            </a:r>
            <a:r>
              <a:rPr lang="en-US" sz="2200"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sz="2200" kern="1200" dirty="0">
                <a:solidFill>
                  <a:srgbClr val="000000"/>
                </a:solidFill>
                <a:latin typeface="Arial" panose="020B0604020202020204" pitchFamily="34" charset="0"/>
              </a:rPr>
              <a:t>L</a:t>
            </a:r>
            <a:endParaRPr lang="en-US" sz="2200" kern="1200" dirty="0">
              <a:solidFill>
                <a:srgbClr val="000000"/>
              </a:solidFill>
              <a:latin typeface="Arial" panose="020B0604020202020204" pitchFamily="34" charset="0"/>
            </a:endParaRPr>
          </a:p>
          <a:p>
            <a:pPr marL="255905" lvl="0" indent="-255905">
              <a:spcAft>
                <a:spcPct val="0"/>
              </a:spcAft>
            </a:pPr>
            <a:r>
              <a:rPr lang="en-US" sz="2200" kern="1200" dirty="0">
                <a:solidFill>
                  <a:srgbClr val="000000"/>
                </a:solidFill>
                <a:latin typeface="Arial" panose="020B0604020202020204" pitchFamily="34" charset="0"/>
              </a:rPr>
              <a:t>Wikis</a:t>
            </a:r>
            <a:endParaRPr lang="en-US" sz="2200" kern="1200" dirty="0">
              <a:solidFill>
                <a:srgbClr val="000000"/>
              </a:solidFill>
              <a:latin typeface="Arial" panose="020B0604020202020204" pitchFamily="34" charset="0"/>
            </a:endParaRPr>
          </a:p>
          <a:p>
            <a:pPr marL="741680" lvl="1" indent="-284480">
              <a:spcAft>
                <a:spcPct val="0"/>
              </a:spcAft>
            </a:pPr>
            <a:r>
              <a:rPr lang="en-US" sz="2200" kern="1200" dirty="0">
                <a:solidFill>
                  <a:srgbClr val="000000"/>
                </a:solidFill>
                <a:latin typeface="Arial" panose="020B0604020202020204" pitchFamily="34" charset="0"/>
              </a:rPr>
              <a:t>Enables documents to be written collectively and collaboratively</a:t>
            </a:r>
            <a:endParaRPr lang="en-US" sz="2200" kern="1200" dirty="0">
              <a:solidFill>
                <a:srgbClr val="000000"/>
              </a:solidFill>
              <a:latin typeface="Arial" panose="020B0604020202020204" pitchFamily="34" charset="0"/>
            </a:endParaRPr>
          </a:p>
          <a:p>
            <a:pPr marL="741680" lvl="1" indent="-284480">
              <a:spcAft>
                <a:spcPct val="0"/>
              </a:spcAft>
            </a:pPr>
            <a:r>
              <a:rPr lang="en-US" sz="2200" kern="1200" dirty="0">
                <a:solidFill>
                  <a:srgbClr val="000000"/>
                </a:solidFill>
                <a:latin typeface="Arial" panose="020B0604020202020204" pitchFamily="34" charset="0"/>
              </a:rPr>
              <a:t>E.g., Wikipedia</a:t>
            </a:r>
            <a:endParaRPr lang="en-US" sz="2200" kern="1200" dirty="0">
              <a:solidFill>
                <a:srgbClr val="000000"/>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kern="1200" dirty="0">
                <a:cs typeface="Times New Roman" panose="02020603050405020304" pitchFamily="18" charset="0"/>
              </a:rPr>
              <a:t>Virtual Reality and Augmented Reality</a:t>
            </a:r>
            <a:endParaRPr lang="en-IN" sz="3200" dirty="0"/>
          </a:p>
        </p:txBody>
      </p:sp>
      <p:sp>
        <p:nvSpPr>
          <p:cNvPr id="3" name="Content Placeholder 2"/>
          <p:cNvSpPr>
            <a:spLocks noGrp="1"/>
          </p:cNvSpPr>
          <p:nvPr>
            <p:ph sz="quarter" idx="13"/>
          </p:nvPr>
        </p:nvSpPr>
        <p:spPr>
          <a:xfrm>
            <a:off x="457200" y="1554920"/>
            <a:ext cx="8232775" cy="4790318"/>
          </a:xfrm>
        </p:spPr>
        <p:txBody>
          <a:bodyPr/>
          <a:lstStyle/>
          <a:p>
            <a:pPr marL="255905" lvl="0" indent="-255905">
              <a:spcAft>
                <a:spcPct val="0"/>
              </a:spcAft>
              <a:buSzPts val="2400"/>
            </a:pPr>
            <a:r>
              <a:rPr lang="en-US" kern="1200" dirty="0">
                <a:solidFill>
                  <a:srgbClr val="000000"/>
                </a:solidFill>
                <a:latin typeface="Arial" panose="020B0604020202020204" pitchFamily="34" charset="0"/>
              </a:rPr>
              <a:t>Virtual reality (V</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Immersing users within virtual world</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Typically uses head-mounted display (H</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D)</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Oculus Rift, Vive, PlayStation V</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Augmented reality (A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Overlaying virtual objects over the real world, via mobile devices or H</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M</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D</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Pokémon G</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O</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Mixed reality (A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endParaRPr lang="en-US" kern="1200" dirty="0">
              <a:solidFill>
                <a:srgbClr val="000000"/>
              </a:solidFill>
              <a:latin typeface="Arial" panose="020B0604020202020204" pitchFamily="34" charset="0"/>
            </a:endParaRPr>
          </a:p>
          <a:p>
            <a:pPr marL="742315" lvl="1">
              <a:spcAft>
                <a:spcPct val="0"/>
              </a:spcAft>
              <a:buSzPts val="2400"/>
            </a:pPr>
            <a:r>
              <a:rPr lang="en-US" kern="1200" dirty="0">
                <a:solidFill>
                  <a:srgbClr val="000000"/>
                </a:solidFill>
                <a:latin typeface="Arial" panose="020B0604020202020204" pitchFamily="34" charset="0"/>
              </a:rPr>
              <a:t>Enhanced version of A</a:t>
            </a:r>
            <a:r>
              <a:rPr lang="en-US" sz="100" kern="1200" dirty="0">
                <a:solidFill>
                  <a:srgbClr val="000000"/>
                </a:solidFill>
                <a:latin typeface="Arial" panose="020B0604020202020204" pitchFamily="34" charset="0"/>
              </a:rPr>
              <a:t> </a:t>
            </a:r>
            <a:r>
              <a:rPr lang="en-US" kern="1200" dirty="0">
                <a:solidFill>
                  <a:srgbClr val="000000"/>
                </a:solidFill>
                <a:latin typeface="Arial" panose="020B0604020202020204" pitchFamily="34" charset="0"/>
              </a:rPr>
              <a:t>R</a:t>
            </a:r>
            <a:endParaRPr lang="en-US" kern="1200" dirty="0">
              <a:solidFill>
                <a:srgbClr val="000000"/>
              </a:solidFill>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Intelligent Digital Assistants</a:t>
            </a:r>
            <a:endParaRPr lang="en-IN" dirty="0"/>
          </a:p>
        </p:txBody>
      </p:sp>
      <p:sp>
        <p:nvSpPr>
          <p:cNvPr id="3" name="Content Placeholder 2"/>
          <p:cNvSpPr>
            <a:spLocks noGrp="1"/>
          </p:cNvSpPr>
          <p:nvPr>
            <p:ph sz="quarter" idx="13"/>
          </p:nvPr>
        </p:nvSpPr>
        <p:spPr>
          <a:xfrm>
            <a:off x="457200" y="1554920"/>
            <a:ext cx="8232775" cy="4790318"/>
          </a:xfrm>
        </p:spPr>
        <p:txBody>
          <a:bodyPr/>
          <a:lstStyle/>
          <a:p>
            <a:pPr marL="255905" lvl="0" indent="-255905">
              <a:spcAft>
                <a:spcPct val="0"/>
              </a:spcAft>
              <a:buSzPts val="2400"/>
            </a:pPr>
            <a:r>
              <a:rPr lang="en-US" kern="1200" dirty="0">
                <a:solidFill>
                  <a:srgbClr val="000000"/>
                </a:solidFill>
                <a:latin typeface="Arial" panose="020B0604020202020204" pitchFamily="34" charset="0"/>
              </a:rPr>
              <a:t>Computer search engine using:</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Natural language</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Conversational interface, verbal commands</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Situational awareness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Can handle requests for appointments, flights, routes, event scheduling, and more.</a:t>
            </a:r>
            <a:endParaRPr lang="en-US" kern="1200" dirty="0">
              <a:solidFill>
                <a:srgbClr val="000000"/>
              </a:solidFill>
              <a:latin typeface="Arial" panose="020B0604020202020204" pitchFamily="34" charset="0"/>
            </a:endParaRPr>
          </a:p>
          <a:p>
            <a:pPr marL="741680" lvl="1" indent="-284480">
              <a:spcAft>
                <a:spcPct val="0"/>
              </a:spcAft>
              <a:buSzPts val="2400"/>
            </a:pPr>
            <a:r>
              <a:rPr lang="en-US" kern="1200" dirty="0">
                <a:solidFill>
                  <a:srgbClr val="000000"/>
                </a:solidFill>
                <a:latin typeface="Arial" panose="020B0604020202020204" pitchFamily="34" charset="0"/>
              </a:rPr>
              <a:t>Examples:</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Apple’s Siri</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Google Now/Google Assistant</a:t>
            </a:r>
            <a:endParaRPr lang="en-US" kern="1200" dirty="0">
              <a:solidFill>
                <a:srgbClr val="000000"/>
              </a:solidFill>
              <a:latin typeface="Arial" panose="020B0604020202020204" pitchFamily="34" charset="0"/>
            </a:endParaRPr>
          </a:p>
          <a:p>
            <a:pPr marL="1144905" lvl="2" indent="-230505">
              <a:spcAft>
                <a:spcPct val="0"/>
              </a:spcAft>
              <a:buSzPts val="2400"/>
            </a:pPr>
            <a:r>
              <a:rPr lang="en-US" kern="1200" dirty="0">
                <a:solidFill>
                  <a:srgbClr val="000000"/>
                </a:solidFill>
                <a:latin typeface="Arial" panose="020B0604020202020204" pitchFamily="34" charset="0"/>
              </a:rPr>
              <a:t>Amazon Alexa</a:t>
            </a:r>
            <a:endParaRPr lang="en-US" kern="1200" dirty="0">
              <a:solidFill>
                <a:srgbClr val="000000"/>
              </a:solidFill>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Mobile Apps</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altLang="en-US" kern="1200" dirty="0">
                <a:solidFill>
                  <a:srgbClr val="000000"/>
                </a:solidFill>
              </a:rPr>
              <a:t>Use of mobile apps has exploded</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Most popular entertainment media, over T</a:t>
            </a:r>
            <a:r>
              <a:rPr lang="en-US" altLang="en-US" sz="100" kern="1200" dirty="0">
                <a:solidFill>
                  <a:srgbClr val="000000"/>
                </a:solidFill>
              </a:rPr>
              <a:t> </a:t>
            </a:r>
            <a:r>
              <a:rPr lang="en-US" altLang="en-US" kern="1200" dirty="0">
                <a:solidFill>
                  <a:srgbClr val="000000"/>
                </a:solidFill>
              </a:rPr>
              <a:t>V</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Always present shopping tool</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Almost all top 100 brands have an app</a:t>
            </a:r>
            <a:endParaRPr lang="en-US" altLang="en-US" kern="1200" dirty="0">
              <a:solidFill>
                <a:srgbClr val="000000"/>
              </a:solidFill>
            </a:endParaRPr>
          </a:p>
          <a:p>
            <a:pPr marL="255905" lvl="0" indent="-255905">
              <a:spcAft>
                <a:spcPct val="0"/>
              </a:spcAft>
              <a:buSzPts val="2400"/>
            </a:pPr>
            <a:r>
              <a:rPr lang="en-US" altLang="en-US" kern="1200" dirty="0">
                <a:solidFill>
                  <a:srgbClr val="000000"/>
                </a:solidFill>
              </a:rPr>
              <a:t>Platforms</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iPhone/iPad (i</a:t>
            </a:r>
            <a:r>
              <a:rPr lang="en-US" altLang="en-US" sz="100" kern="1200" dirty="0">
                <a:solidFill>
                  <a:srgbClr val="000000"/>
                </a:solidFill>
              </a:rPr>
              <a:t> </a:t>
            </a:r>
            <a:r>
              <a:rPr lang="en-US" altLang="en-US" kern="1200" dirty="0">
                <a:solidFill>
                  <a:srgbClr val="000000"/>
                </a:solidFill>
              </a:rPr>
              <a:t>O</a:t>
            </a:r>
            <a:r>
              <a:rPr lang="en-US" altLang="en-US" sz="100" kern="1200" dirty="0">
                <a:solidFill>
                  <a:srgbClr val="000000"/>
                </a:solidFill>
              </a:rPr>
              <a:t> </a:t>
            </a:r>
            <a:r>
              <a:rPr lang="en-US" altLang="en-US" kern="1200" dirty="0">
                <a:solidFill>
                  <a:srgbClr val="000000"/>
                </a:solidFill>
              </a:rPr>
              <a:t>S), Android</a:t>
            </a:r>
            <a:endParaRPr lang="en-US" altLang="en-US" kern="1200" dirty="0">
              <a:solidFill>
                <a:srgbClr val="000000"/>
              </a:solidFill>
            </a:endParaRPr>
          </a:p>
          <a:p>
            <a:pPr marL="255905" lvl="0" indent="-255905">
              <a:spcAft>
                <a:spcPct val="0"/>
              </a:spcAft>
              <a:buSzPts val="2400"/>
            </a:pPr>
            <a:r>
              <a:rPr lang="en-US" altLang="en-US" kern="1200" dirty="0">
                <a:solidFill>
                  <a:srgbClr val="000000"/>
                </a:solidFill>
              </a:rPr>
              <a:t>App marketplaces</a:t>
            </a:r>
            <a:endParaRPr lang="en-US" altLang="en-US" kern="1200" dirty="0">
              <a:solidFill>
                <a:srgbClr val="000000"/>
              </a:solidFill>
            </a:endParaRPr>
          </a:p>
          <a:p>
            <a:pPr marL="741680" lvl="1" indent="-284480">
              <a:spcAft>
                <a:spcPct val="0"/>
              </a:spcAft>
              <a:buSzPts val="2400"/>
            </a:pPr>
            <a:r>
              <a:rPr lang="en-US" altLang="en-US" kern="1200" dirty="0">
                <a:solidFill>
                  <a:srgbClr val="000000"/>
                </a:solidFill>
              </a:rPr>
              <a:t>Google Play, Apple</a:t>
            </a:r>
            <a:r>
              <a:rPr lang="en-US" altLang="ja-JP" kern="1200" dirty="0">
                <a:solidFill>
                  <a:srgbClr val="000000"/>
                </a:solidFill>
              </a:rPr>
              <a:t>’s App Store, </a:t>
            </a:r>
            <a:r>
              <a:rPr lang="en-US" dirty="0"/>
              <a:t>Amazon’s Appstore</a:t>
            </a:r>
            <a:endParaRPr lang="en-US" altLang="en-US" kern="1200" dirty="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cs typeface="Times New Roman" panose="02020603050405020304" pitchFamily="18" charset="0"/>
              </a:rPr>
              <a:t>Careers in </a:t>
            </a:r>
            <a:r>
              <a:rPr lang="pt-BR" kern="1200" dirty="0">
                <a:cs typeface="Times New Roman" panose="02020603050405020304" pitchFamily="18" charset="0"/>
              </a:rPr>
              <a:t>E-commerce</a:t>
            </a:r>
            <a:endParaRPr lang="en-IN" dirty="0"/>
          </a:p>
        </p:txBody>
      </p:sp>
      <p:sp>
        <p:nvSpPr>
          <p:cNvPr id="3" name="Content Placeholder 2"/>
          <p:cNvSpPr>
            <a:spLocks noGrp="1"/>
          </p:cNvSpPr>
          <p:nvPr>
            <p:ph sz="quarter" idx="13"/>
          </p:nvPr>
        </p:nvSpPr>
        <p:spPr/>
        <p:txBody>
          <a:bodyPr/>
          <a:lstStyle/>
          <a:p>
            <a:pPr marL="255905" lvl="0" indent="-255905">
              <a:spcAft>
                <a:spcPct val="0"/>
              </a:spcAft>
              <a:buSzPts val="2400"/>
            </a:pPr>
            <a:r>
              <a:rPr lang="en-US" kern="1200" dirty="0">
                <a:solidFill>
                  <a:srgbClr val="000000"/>
                </a:solidFill>
                <a:latin typeface="Arial" panose="020B0604020202020204" pitchFamily="34" charset="0"/>
              </a:rPr>
              <a:t>Position: E-commerce Specialist</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Qualification/Skills</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Preparing for the Interview</a:t>
            </a:r>
            <a:endParaRPr lang="en-US" kern="1200" dirty="0">
              <a:solidFill>
                <a:srgbClr val="000000"/>
              </a:solidFill>
              <a:latin typeface="Arial" panose="020B0604020202020204" pitchFamily="34" charset="0"/>
            </a:endParaRPr>
          </a:p>
          <a:p>
            <a:pPr marL="255905" lvl="0" indent="-255905">
              <a:spcAft>
                <a:spcPct val="0"/>
              </a:spcAft>
              <a:buSzPts val="2400"/>
            </a:pPr>
            <a:r>
              <a:rPr lang="en-US" kern="1200" dirty="0">
                <a:solidFill>
                  <a:srgbClr val="000000"/>
                </a:solidFill>
                <a:latin typeface="Arial" panose="020B0604020202020204" pitchFamily="34" charset="0"/>
              </a:rPr>
              <a:t>Possible Interview Questions</a:t>
            </a:r>
            <a:endParaRPr lang="en-US" kern="1200" dirty="0">
              <a:solidFill>
                <a:srgbClr val="000000"/>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p:cNvSpPr>
            <a:spLocks noGrp="1"/>
          </p:cNvSpPr>
          <p:nvPr>
            <p:ph type="title"/>
          </p:nvPr>
        </p:nvSpPr>
        <p:spPr/>
        <p:txBody>
          <a:bodyPr/>
          <a:lstStyle/>
          <a:p>
            <a:r>
              <a:rPr lang="en-US" dirty="0"/>
              <a:t>Copyright</a:t>
            </a:r>
            <a:endParaRPr lang="en-US" dirty="0"/>
          </a:p>
        </p:txBody>
      </p:sp>
      <p:pic>
        <p:nvPicPr>
          <p:cNvPr id="7" name="Graphic 6" descr="Warni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6184" y="2317359"/>
            <a:ext cx="1277815" cy="1434026"/>
          </a:xfrm>
          <a:prstGeom prst="rect">
            <a:avLst/>
          </a:prstGeom>
        </p:spPr>
      </p:pic>
      <p:sp>
        <p:nvSpPr>
          <p:cNvPr id="2" name="Text Placeholder 1"/>
          <p:cNvSpPr>
            <a:spLocks noGrp="1"/>
          </p:cNvSpPr>
          <p:nvPr>
            <p:ph type="body" idx="4294967295"/>
          </p:nvPr>
        </p:nvSpPr>
        <p:spPr>
          <a:xfrm>
            <a:off x="1606061" y="1852246"/>
            <a:ext cx="6858001" cy="2854836"/>
          </a:xfrm>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b="1" dirty="0"/>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12818</Words>
  <Application>WPS Presentation</Application>
  <PresentationFormat>On-screen Show (4:3)</PresentationFormat>
  <Paragraphs>420</Paragraphs>
  <Slides>50</Slides>
  <Notes>50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50</vt:i4>
      </vt:variant>
    </vt:vector>
  </HeadingPairs>
  <TitlesOfParts>
    <vt:vector size="64" baseType="lpstr">
      <vt:lpstr>Arial</vt:lpstr>
      <vt:lpstr>SimSun</vt:lpstr>
      <vt:lpstr>Wingdings</vt:lpstr>
      <vt:lpstr>Arial</vt:lpstr>
      <vt:lpstr>Times New Roman</vt:lpstr>
      <vt:lpstr>Noto Sans Symbols</vt:lpstr>
      <vt:lpstr>Verdana</vt:lpstr>
      <vt:lpstr>Verdana</vt:lpstr>
      <vt:lpstr>Times New Roman</vt:lpstr>
      <vt:lpstr>Calibri</vt:lpstr>
      <vt:lpstr>Microsoft YaHei</vt:lpstr>
      <vt:lpstr>Arial Unicode MS</vt:lpstr>
      <vt:lpstr>USHE</vt:lpstr>
      <vt:lpstr>USHE_slide options</vt:lpstr>
      <vt:lpstr>E-commerce 2021: Business. Technology. Society.</vt:lpstr>
      <vt:lpstr>Learning Objectives</vt:lpstr>
      <vt:lpstr>The Covid-19 Pandemic: Will the Internet Break?</vt:lpstr>
      <vt:lpstr>The Internet: Technology Background</vt:lpstr>
      <vt:lpstr>The Evolution of the Internet 1961–Present</vt:lpstr>
      <vt:lpstr>The Internet: Key Technology Concepts</vt:lpstr>
      <vt:lpstr>Packet Switching</vt:lpstr>
      <vt:lpstr>Figure 3.3 Packet Switching</vt:lpstr>
      <vt:lpstr>T C P/I P</vt:lpstr>
      <vt:lpstr>Figure 3.4 The T C P/I P Architecture and Protocol Suite</vt:lpstr>
      <vt:lpstr>Internet (I P) Addresses</vt:lpstr>
      <vt:lpstr>Figure 3.5 Routing Internet Messages: T C P/I P and Packet Switching</vt:lpstr>
      <vt:lpstr>Domain Names, D N S, and U R L s</vt:lpstr>
      <vt:lpstr>Client/Server Computing</vt:lpstr>
      <vt:lpstr>The Mobile Platform</vt:lpstr>
      <vt:lpstr>The Internet “Cloud Computing” Model (1 of 2)</vt:lpstr>
      <vt:lpstr>The Internet “Cloud Computing” Model (2 of 2)</vt:lpstr>
      <vt:lpstr>Other Internet Protocols and Utility Programs</vt:lpstr>
      <vt:lpstr>Internet Infrastructure</vt:lpstr>
      <vt:lpstr>Figure 3.10 The Hourglass Model of the Internet</vt:lpstr>
      <vt:lpstr>Figure 3.11 Internet Network Architecture</vt:lpstr>
      <vt:lpstr>The Internet Backbone</vt:lpstr>
      <vt:lpstr>Internet Exchange Points (I X P s)</vt:lpstr>
      <vt:lpstr>Tier 3 Internet Service Providers</vt:lpstr>
      <vt:lpstr>Campus/Corporate Area Networks</vt:lpstr>
      <vt:lpstr>Mobile Internet Access</vt:lpstr>
      <vt:lpstr>Wireless Local Area Network (W L A N) -Based Internet Access</vt:lpstr>
      <vt:lpstr>Figure 3.13 Wi-Fi Networks</vt:lpstr>
      <vt:lpstr>Other Innovative Internet Access Technologies: Drones, Balloons, and White Space</vt:lpstr>
      <vt:lpstr>The Internet of Things (I O T)</vt:lpstr>
      <vt:lpstr>Insight on Business: The Apple Watch: Bringing the Internet of Things to Your Wrist</vt:lpstr>
      <vt:lpstr>Who Governs the Internet?</vt:lpstr>
      <vt:lpstr>Insight on Society: Government Regulation and Surveillance of the Internet</vt:lpstr>
      <vt:lpstr>The Web</vt:lpstr>
      <vt:lpstr>Hypertext</vt:lpstr>
      <vt:lpstr>Markup Languages</vt:lpstr>
      <vt:lpstr>Web Servers and Web Clients</vt:lpstr>
      <vt:lpstr>Web Browsers</vt:lpstr>
      <vt:lpstr>The Internet and Web: Features</vt:lpstr>
      <vt:lpstr>Communication Tools</vt:lpstr>
      <vt:lpstr>Insight on Technology: Zoom in the Midst of the Pandemic</vt:lpstr>
      <vt:lpstr>Search Engines</vt:lpstr>
      <vt:lpstr>Figure 3.17 How Google Works</vt:lpstr>
      <vt:lpstr>Downloadable and Streaming Media</vt:lpstr>
      <vt:lpstr>Web 2.0 Features and Services</vt:lpstr>
      <vt:lpstr>Virtual Reality and Augmented Reality</vt:lpstr>
      <vt:lpstr>Intelligent Digital Assistants</vt:lpstr>
      <vt:lpstr>Mobile Apps</vt:lpstr>
      <vt:lpstr>Careers in E-commerce</vt:lpstr>
      <vt:lpstr>Copyright</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2021: Business. Technology. Society., Sixteenth Edition, Chapter 3, E-commerce Infrastructure: The Internet, Web, and Mobile Platform</dc:title>
  <dc:creator>Laudon/Traver</dc:creator>
  <cp:keywords>E-commerce 2021</cp:keywords>
  <dc:description>This presentation contains the hyperlinks; Long description alt-text is inserted in the notes pane.</dc:description>
  <dc:subject>MIS</dc:subject>
  <cp:lastModifiedBy>Anh Lan</cp:lastModifiedBy>
  <cp:revision>766</cp:revision>
  <dcterms:created xsi:type="dcterms:W3CDTF">2025-10-05T11:27:00Z</dcterms:created>
  <dcterms:modified xsi:type="dcterms:W3CDTF">2025-10-05T11:30:07Z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962D226C64514F40AECDA0FEA4D5FB0C_13</vt:lpwstr>
  </property>
  <property fmtid="{D5CDD505-2E9C-101B-9397-08002B2CF9AE}" pid="3" name="KSOProductBuildVer">
    <vt:lpwstr>1033-12.2.0.22549</vt:lpwstr>
  </property>
</Properties>
</file>